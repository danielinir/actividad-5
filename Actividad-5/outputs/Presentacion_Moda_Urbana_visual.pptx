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Presentamos la transformación digital de Moda Urbana, una tienda de ropa ficticia. Partimos de un comercio que organiza sus tareas de forma manual. La idea no es solo tener una página web: queremos mostrar cómo conectar las ventas, las existencias y los pedidos puede facilitar el trabajo y la atención al cliente. Los resultados que comentamos son esperados, no mediciones reales.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recorrido tiene tres partes. Primero veremos cómo trabaja la tienda antes de digitalizarse. Después enseñaremos los cambios que proponemos y la web de demostración. Por último explicaremos qué problemas podrían mejorar y cómo comprobaríamos si el cambio funciona.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la transformación, la tienda depende de las visitas al local y de su horario. Para consultar una talla, el personal revisa las prendas y el almacén. Las existencias y los encargos se apuntan en una libreta. Esto no significa que se trabaje mal, sino que la información está dispersa y puede costar más tiempo encontrarla o actualizarla.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Después, la tienda, la web y el inventario deberían compartir la misma información. Una venta tiene que quedar registrada y actualizar las existencias de la talla y el color elegidos. Así podemos evitar copiar la misma información en varios sitios y reducir el riesgo de ofrecer una prenda que ya está agotada. En una tienda real haría falta configurar y comprobar esta integración.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página web es la parte más visible de la propuesta. El cliente puede consultar la colección, los precios y la disponibilidad sin desplazarse al local. En nuestra demostración puede buscar y filtrar prendas, elegir talla y color y añadirlas a una cesta. El pedido es simulado: no se realiza ningún cobro ni se envía mercancía.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cambio en el inventario consiste en pasar de una anotación manual a un registro por prenda, talla y color. La imagen muestra unidades de ejemplo. En la web hay una combinación agotada para que se pueda comprobar cómo se bloquea la compra cuando no queda stock. La mejora esperada es consultar más rápido y cometer menos errores, siempre que las entradas, ventas y devoluciones se registren correctamente.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un encargo anotado en papel puede perderse o no dejar claro quién debe prepararlo. Con un registro digital, el pedido tiene un estado. En la demostración aparece primero como pendiente y después se puede marcar como preparado. Esto permite enseñar cómo se organiza el seguimiento. La entrega y el envío real no están incluidos en esta web de prueba.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transformación también afecta a las personas. Un calendario compartido permitiría consultar los turnos, las vacaciones y las tareas previstas. Por ejemplo, quién recibe la mercancía y quién prepara los pedidos. Para que funcione, el equipo necesitaría una formación inicial y acuerdos sobre cómo actualizar la información. Este calendario forma parte de la propuesta del informe, no de la web de demostración.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Proponemos Odoo para integrar punto de venta, inventario y comercio electrónico. Su documentación oficial contempla variantes de productos y la conexión entre ventas e inventario. Canva se utilizaría para las publicaciones de novedades y para la presentación. Un calendario compartido ayudaría a organizar al personal. Los círculos de esta diapositiva son símbolos ilustrativos, no logotipos oficiales. La elección final dependería de las necesidades y el presupuesto de la tienda.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enseñarlo en clase, abrimos la web y consultamos el inventario de una camiseta. Después seleccionamos esa misma talla y color, la añadimos a la cesta y confirmamos el pedido de prueba. Al volver a Gestión de prueba, aparece un nuevo pedido y una unidad menos de esa variante. Podemos marcarlo como preparado y reiniciar los datos para repetir la explicación. Todo ocurre en este navegador: no hay cobros, envíos ni conexión real con Odoo.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podemos afirmar que una tienda vende más solo por crear una web. Para valorar la mejora compararíamos el tiempo necesario para consultar una talla, las diferencias entre stock registrado y real, los errores en los pedidos y las ventas del canal online. Los periodos deberían ser parecidos y habría que tener en cuenta las rebajas o la temporada. El gráfico es una ilustración de medición, no datos reales ni una promesa de crecimiento.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conclusión es que la web abre una nueva forma de consultar y comprar, pero la transformación digital se consigue al conectar el trabajo de la tienda. Organizar la información puede facilitar las tareas del personal y mejorar la atención al cliente. Esta propuesta es un caso ficticio. Las fuentes de las funciones de las herramientas son las páginas oficiales de Odoo, https://www.odoo.com/es_ES/app/point-of-sale-features, y Canva, https://www.canva.com/es_es/redes-sociales/.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2E30"/>
        </a:solidFill>
        <a:effectLst/>
      </p:bgPr>
    </p:bg>
    <p:spTree>
      <p:nvGrpSpPr>
        <p:cNvPr id="1" name=""/>
        <p:cNvGrpSpPr/>
        <p:nvPr/>
      </p:nvGrpSpPr>
      <p:grpSpPr/>
      <p:sp>
        <p:nvSpPr>
          <p:cNvPr id="2" name="TextBox 1"/>
          <p:cNvSpPr txBox="1"/>
          <p:nvPr/>
        </p:nvSpPr>
        <p:spPr>
          <a:xfrm>
            <a:off x="548640" y="292608"/>
            <a:ext cx="4572000" cy="210312"/>
          </a:xfrm>
          <a:prstGeom prst="rect">
            <a:avLst/>
          </a:prstGeom>
          <a:noFill/>
        </p:spPr>
        <p:txBody>
          <a:bodyPr wrap="none" lIns="0" rIns="0" tIns="0" bIns="0">
            <a:spAutoFit/>
          </a:bodyPr>
          <a:lstStyle/>
          <a:p>
            <a:pPr>
              <a:lnSpc>
                <a:spcPct val="108000"/>
              </a:lnSpc>
              <a:spcAft>
                <a:spcPts val="0"/>
              </a:spcAft>
              <a:defRPr sz="1000" b="1">
                <a:solidFill>
                  <a:srgbClr val="DFE8DD"/>
                </a:solidFill>
                <a:latin typeface="Arial"/>
              </a:defRPr>
            </a:pPr>
            <a:r>
              <a:t>MODA URBANA</a:t>
            </a:r>
          </a:p>
        </p:txBody>
      </p:sp>
      <p:sp>
        <p:nvSpPr>
          <p:cNvPr id="3" name="TextBox 2"/>
          <p:cNvSpPr txBox="1"/>
          <p:nvPr/>
        </p:nvSpPr>
        <p:spPr>
          <a:xfrm>
            <a:off x="11109960" y="292608"/>
            <a:ext cx="502920" cy="210312"/>
          </a:xfrm>
          <a:prstGeom prst="rect">
            <a:avLst/>
          </a:prstGeom>
          <a:noFill/>
        </p:spPr>
        <p:txBody>
          <a:bodyPr wrap="none" lIns="0" rIns="0" tIns="0" bIns="0">
            <a:spAutoFit/>
          </a:bodyPr>
          <a:lstStyle/>
          <a:p>
            <a:pPr algn="ctr">
              <a:lnSpc>
                <a:spcPct val="108000"/>
              </a:lnSpc>
              <a:spcAft>
                <a:spcPts val="0"/>
              </a:spcAft>
              <a:defRPr sz="1000" b="1">
                <a:solidFill>
                  <a:srgbClr val="DFE8DD"/>
                </a:solidFill>
                <a:latin typeface="Arial"/>
              </a:defRPr>
            </a:pPr>
            <a:r>
              <a:t>01</a:t>
            </a:r>
          </a:p>
        </p:txBody>
      </p:sp>
      <p:sp>
        <p:nvSpPr>
          <p:cNvPr id="4" name="TextBox 3"/>
          <p:cNvSpPr txBox="1"/>
          <p:nvPr/>
        </p:nvSpPr>
        <p:spPr>
          <a:xfrm>
            <a:off x="548640" y="6464808"/>
            <a:ext cx="3657600" cy="210312"/>
          </a:xfrm>
          <a:prstGeom prst="rect">
            <a:avLst/>
          </a:prstGeom>
          <a:noFill/>
        </p:spPr>
        <p:txBody>
          <a:bodyPr wrap="none" lIns="0" rIns="0" tIns="0" bIns="0">
            <a:spAutoFit/>
          </a:bodyPr>
          <a:lstStyle/>
          <a:p>
            <a:pPr>
              <a:lnSpc>
                <a:spcPct val="108000"/>
              </a:lnSpc>
              <a:spcAft>
                <a:spcPts val="0"/>
              </a:spcAft>
              <a:defRPr sz="900" b="0">
                <a:solidFill>
                  <a:srgbClr val="DFE8DD"/>
                </a:solidFill>
                <a:latin typeface="Arial"/>
              </a:defRPr>
            </a:pPr>
            <a:r>
              <a:t>Caso ficticio</a:t>
            </a:r>
          </a:p>
        </p:txBody>
      </p:sp>
      <p:sp>
        <p:nvSpPr>
          <p:cNvPr id="5" name="TextBox 4"/>
          <p:cNvSpPr txBox="1"/>
          <p:nvPr/>
        </p:nvSpPr>
        <p:spPr>
          <a:xfrm>
            <a:off x="594360" y="932688"/>
            <a:ext cx="9875520" cy="1188720"/>
          </a:xfrm>
          <a:prstGeom prst="rect">
            <a:avLst/>
          </a:prstGeom>
          <a:noFill/>
        </p:spPr>
        <p:txBody>
          <a:bodyPr wrap="none" lIns="0" rIns="0" tIns="0" bIns="0">
            <a:spAutoFit/>
          </a:bodyPr>
          <a:lstStyle/>
          <a:p>
            <a:pPr>
              <a:lnSpc>
                <a:spcPct val="108000"/>
              </a:lnSpc>
              <a:spcAft>
                <a:spcPts val="0"/>
              </a:spcAft>
              <a:defRPr sz="4300" b="1">
                <a:solidFill>
                  <a:srgbClr val="FFFFFF"/>
                </a:solidFill>
                <a:latin typeface="Arial"/>
              </a:defRPr>
            </a:pPr>
            <a:r>
              <a:t>De la libreta</a:t>
            </a:r>
          </a:p>
          <a:p>
            <a:pPr>
              <a:lnSpc>
                <a:spcPct val="108000"/>
              </a:lnSpc>
              <a:spcAft>
                <a:spcPts val="0"/>
              </a:spcAft>
              <a:defRPr sz="4300" b="1">
                <a:solidFill>
                  <a:srgbClr val="FFFFFF"/>
                </a:solidFill>
                <a:latin typeface="Arial"/>
              </a:defRPr>
            </a:pPr>
            <a:r>
              <a:t>a la tienda digital.</a:t>
            </a:r>
          </a:p>
        </p:txBody>
      </p:sp>
      <p:sp>
        <p:nvSpPr>
          <p:cNvPr id="6" name="Rounded Rectangle 5"/>
          <p:cNvSpPr/>
          <p:nvPr/>
        </p:nvSpPr>
        <p:spPr>
          <a:xfrm>
            <a:off x="1325880" y="2788920"/>
            <a:ext cx="2057400" cy="2331720"/>
          </a:xfrm>
          <a:prstGeom prst="roundRect">
            <a:avLst>
              <a:gd name="adj" fmla="val 13000"/>
            </a:avLst>
          </a:prstGeom>
          <a:solidFill>
            <a:srgbClr val="E8DA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453895" y="2898648"/>
            <a:ext cx="1828800" cy="2130551"/>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89304" y="3154679"/>
            <a:ext cx="109728" cy="109728"/>
          </a:xfrm>
          <a:prstGeom prst="ellipse">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89304" y="3666744"/>
            <a:ext cx="109728" cy="109728"/>
          </a:xfrm>
          <a:prstGeom prst="ellipse">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89304" y="4178808"/>
            <a:ext cx="109728" cy="109728"/>
          </a:xfrm>
          <a:prstGeom prst="ellipse">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89304" y="4690872"/>
            <a:ext cx="109728" cy="109728"/>
          </a:xfrm>
          <a:prstGeom prst="ellipse">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1828800" y="3291839"/>
            <a:ext cx="1234440" cy="0"/>
          </a:xfrm>
          <a:prstGeom prst="line">
            <a:avLst/>
          </a:prstGeom>
          <a:ln w="25400">
            <a:solidFill>
              <a:srgbClr val="D6D9C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828800" y="3749039"/>
            <a:ext cx="1234440" cy="0"/>
          </a:xfrm>
          <a:prstGeom prst="line">
            <a:avLst/>
          </a:prstGeom>
          <a:ln w="25400">
            <a:solidFill>
              <a:srgbClr val="D6D9C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828800" y="4206240"/>
            <a:ext cx="1234440" cy="0"/>
          </a:xfrm>
          <a:prstGeom prst="line">
            <a:avLst/>
          </a:prstGeom>
          <a:ln w="25400">
            <a:solidFill>
              <a:srgbClr val="D6D9C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828800" y="4663440"/>
            <a:ext cx="1234440" cy="0"/>
          </a:xfrm>
          <a:prstGeom prst="line">
            <a:avLst/>
          </a:prstGeom>
          <a:ln w="25400">
            <a:solidFill>
              <a:srgbClr val="D6D9C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965960" y="3730752"/>
            <a:ext cx="0" cy="356616"/>
          </a:xfrm>
          <a:prstGeom prst="line">
            <a:avLst/>
          </a:prstGeom>
          <a:ln w="25400">
            <a:solidFill>
              <a:srgbClr val="D65A3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67128" y="3730752"/>
            <a:ext cx="0" cy="356616"/>
          </a:xfrm>
          <a:prstGeom prst="line">
            <a:avLst/>
          </a:prstGeom>
          <a:ln w="25400">
            <a:solidFill>
              <a:srgbClr val="D65A3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368296" y="3730752"/>
            <a:ext cx="0" cy="356616"/>
          </a:xfrm>
          <a:prstGeom prst="line">
            <a:avLst/>
          </a:prstGeom>
          <a:ln w="25400">
            <a:solidFill>
              <a:srgbClr val="D65A3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911095" y="3739896"/>
            <a:ext cx="658369" cy="320039"/>
          </a:xfrm>
          <a:prstGeom prst="line">
            <a:avLst/>
          </a:prstGeom>
          <a:ln w="25400">
            <a:solidFill>
              <a:srgbClr val="D65A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749039" y="3840480"/>
            <a:ext cx="1463041" cy="0"/>
          </a:xfrm>
          <a:prstGeom prst="line">
            <a:avLst/>
          </a:prstGeom>
          <a:ln w="38100">
            <a:solidFill>
              <a:srgbClr val="D65A3A"/>
            </a:solidFill>
          </a:ln>
        </p:spPr>
        <p:style>
          <a:lnRef idx="2">
            <a:schemeClr val="accent1"/>
          </a:lnRef>
          <a:fillRef idx="0">
            <a:schemeClr val="accent1"/>
          </a:fillRef>
          <a:effectRef idx="1">
            <a:schemeClr val="accent1"/>
          </a:effectRef>
          <a:fontRef idx="minor">
            <a:schemeClr val="tx1"/>
          </a:fontRef>
        </p:style>
      </p:cxnSp>
      <p:sp>
        <p:nvSpPr>
          <p:cNvPr id="21" name="Freeform 20"/>
          <p:cNvSpPr/>
          <p:nvPr/>
        </p:nvSpPr>
        <p:spPr>
          <a:xfrm>
            <a:off x="5027000" y="3719980"/>
            <a:ext cx="274200" cy="237640"/>
          </a:xfrm>
          <a:custGeom>
            <a:avLst/>
            <a:gdLst/>
            <a:ahLst/>
            <a:cxnLst/>
            <a:rect l="l" t="t" r="r" b="b"/>
            <a:pathLst>
              <a:path w="300" h="260">
                <a:moveTo>
                  <a:pt x="0" y="0"/>
                </a:moveTo>
                <a:lnTo>
                  <a:pt x="300" y="130"/>
                </a:lnTo>
                <a:lnTo>
                  <a:pt x="0" y="260"/>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852160" y="2651760"/>
            <a:ext cx="5303520" cy="338328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52160" y="2651760"/>
            <a:ext cx="5303520" cy="372160"/>
          </a:xfrm>
          <a:prstGeom prst="rect">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011265" y="2770174"/>
            <a:ext cx="74249" cy="74249"/>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159764" y="2770174"/>
            <a:ext cx="74249" cy="74249"/>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308262" y="2770174"/>
            <a:ext cx="74249" cy="74249"/>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090818" y="3260750"/>
            <a:ext cx="1962302" cy="2435961"/>
          </a:xfrm>
          <a:prstGeom prst="roundRect">
            <a:avLst>
              <a:gd name="adj" fmla="val 13000"/>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6247190" y="3661484"/>
            <a:ext cx="1590360" cy="1526380"/>
          </a:xfrm>
          <a:custGeom>
            <a:avLst/>
            <a:gdLst/>
            <a:ahLst/>
            <a:cxnLst/>
            <a:rect l="l" t="t" r="r" b="b"/>
            <a:pathLst>
              <a:path w="1740" h="1670">
                <a:moveTo>
                  <a:pt x="157" y="278"/>
                </a:moveTo>
                <a:lnTo>
                  <a:pt x="592" y="0"/>
                </a:lnTo>
                <a:lnTo>
                  <a:pt x="748" y="139"/>
                </a:lnTo>
                <a:lnTo>
                  <a:pt x="992" y="139"/>
                </a:lnTo>
                <a:lnTo>
                  <a:pt x="1148" y="0"/>
                </a:lnTo>
                <a:lnTo>
                  <a:pt x="1583" y="278"/>
                </a:lnTo>
                <a:lnTo>
                  <a:pt x="1740" y="643"/>
                </a:lnTo>
                <a:lnTo>
                  <a:pt x="1375" y="800"/>
                </a:lnTo>
                <a:lnTo>
                  <a:pt x="1270" y="574"/>
                </a:lnTo>
                <a:lnTo>
                  <a:pt x="1270" y="1670"/>
                </a:lnTo>
                <a:lnTo>
                  <a:pt x="470" y="1670"/>
                </a:lnTo>
                <a:lnTo>
                  <a:pt x="470" y="574"/>
                </a:lnTo>
                <a:lnTo>
                  <a:pt x="365" y="800"/>
                </a:lnTo>
                <a:lnTo>
                  <a:pt x="0" y="643"/>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6934078" y="3805915"/>
            <a:ext cx="222747"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397849" y="3294583"/>
            <a:ext cx="689457" cy="947318"/>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8447188" y="3416532"/>
            <a:ext cx="556626" cy="534690"/>
          </a:xfrm>
          <a:custGeom>
            <a:avLst/>
            <a:gdLst/>
            <a:ahLst/>
            <a:cxnLst/>
            <a:rect l="l" t="t" r="r" b="b"/>
            <a:pathLst>
              <a:path w="609" h="585">
                <a:moveTo>
                  <a:pt x="55" y="98"/>
                </a:moveTo>
                <a:lnTo>
                  <a:pt x="207" y="0"/>
                </a:lnTo>
                <a:lnTo>
                  <a:pt x="262" y="49"/>
                </a:lnTo>
                <a:lnTo>
                  <a:pt x="347" y="49"/>
                </a:lnTo>
                <a:lnTo>
                  <a:pt x="402" y="0"/>
                </a:lnTo>
                <a:lnTo>
                  <a:pt x="554" y="98"/>
                </a:lnTo>
                <a:lnTo>
                  <a:pt x="609" y="226"/>
                </a:lnTo>
                <a:lnTo>
                  <a:pt x="481" y="280"/>
                </a:lnTo>
                <a:lnTo>
                  <a:pt x="445" y="201"/>
                </a:lnTo>
                <a:lnTo>
                  <a:pt x="445" y="585"/>
                </a:lnTo>
                <a:lnTo>
                  <a:pt x="164" y="585"/>
                </a:lnTo>
                <a:lnTo>
                  <a:pt x="164" y="201"/>
                </a:lnTo>
                <a:lnTo>
                  <a:pt x="128" y="280"/>
                </a:lnTo>
                <a:lnTo>
                  <a:pt x="0" y="226"/>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8690338" y="3468474"/>
            <a:ext cx="77962"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246412" y="3294583"/>
            <a:ext cx="689457" cy="947318"/>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9295380" y="3416532"/>
            <a:ext cx="556626" cy="534690"/>
          </a:xfrm>
          <a:custGeom>
            <a:avLst/>
            <a:gdLst/>
            <a:ahLst/>
            <a:cxnLst/>
            <a:rect l="l" t="t" r="r" b="b"/>
            <a:pathLst>
              <a:path w="609" h="585">
                <a:moveTo>
                  <a:pt x="55" y="98"/>
                </a:moveTo>
                <a:lnTo>
                  <a:pt x="207" y="0"/>
                </a:lnTo>
                <a:lnTo>
                  <a:pt x="262" y="49"/>
                </a:lnTo>
                <a:lnTo>
                  <a:pt x="347" y="49"/>
                </a:lnTo>
                <a:lnTo>
                  <a:pt x="402" y="0"/>
                </a:lnTo>
                <a:lnTo>
                  <a:pt x="554" y="98"/>
                </a:lnTo>
                <a:lnTo>
                  <a:pt x="609" y="226"/>
                </a:lnTo>
                <a:lnTo>
                  <a:pt x="481" y="280"/>
                </a:lnTo>
                <a:lnTo>
                  <a:pt x="445" y="201"/>
                </a:lnTo>
                <a:lnTo>
                  <a:pt x="445" y="585"/>
                </a:lnTo>
                <a:lnTo>
                  <a:pt x="164" y="585"/>
                </a:lnTo>
                <a:lnTo>
                  <a:pt x="164" y="201"/>
                </a:lnTo>
                <a:lnTo>
                  <a:pt x="128" y="280"/>
                </a:lnTo>
                <a:lnTo>
                  <a:pt x="0" y="226"/>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9538901" y="3468474"/>
            <a:ext cx="77962"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10094976" y="3294583"/>
            <a:ext cx="689457" cy="947318"/>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10143572" y="3416532"/>
            <a:ext cx="556626" cy="534690"/>
          </a:xfrm>
          <a:custGeom>
            <a:avLst/>
            <a:gdLst/>
            <a:ahLst/>
            <a:cxnLst/>
            <a:rect l="l" t="t" r="r" b="b"/>
            <a:pathLst>
              <a:path w="609" h="585">
                <a:moveTo>
                  <a:pt x="55" y="98"/>
                </a:moveTo>
                <a:lnTo>
                  <a:pt x="207" y="0"/>
                </a:lnTo>
                <a:lnTo>
                  <a:pt x="262" y="49"/>
                </a:lnTo>
                <a:lnTo>
                  <a:pt x="347" y="49"/>
                </a:lnTo>
                <a:lnTo>
                  <a:pt x="402" y="0"/>
                </a:lnTo>
                <a:lnTo>
                  <a:pt x="554" y="98"/>
                </a:lnTo>
                <a:lnTo>
                  <a:pt x="609" y="226"/>
                </a:lnTo>
                <a:lnTo>
                  <a:pt x="481" y="280"/>
                </a:lnTo>
                <a:lnTo>
                  <a:pt x="445" y="201"/>
                </a:lnTo>
                <a:lnTo>
                  <a:pt x="445" y="585"/>
                </a:lnTo>
                <a:lnTo>
                  <a:pt x="164" y="585"/>
                </a:lnTo>
                <a:lnTo>
                  <a:pt x="164" y="201"/>
                </a:lnTo>
                <a:lnTo>
                  <a:pt x="128" y="280"/>
                </a:lnTo>
                <a:lnTo>
                  <a:pt x="0" y="226"/>
                </a:lnTo>
                <a:close/>
              </a:path>
            </a:pathLst>
          </a:custGeom>
          <a:solidFill>
            <a:srgbClr val="64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10387465" y="3468474"/>
            <a:ext cx="77961"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397849" y="4478731"/>
            <a:ext cx="2121408" cy="91348"/>
          </a:xfrm>
          <a:prstGeom prst="rect">
            <a:avLst/>
          </a:prstGeom>
          <a:solidFill>
            <a:srgbClr val="D6D9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397849" y="4715560"/>
            <a:ext cx="1484985" cy="91348"/>
          </a:xfrm>
          <a:prstGeom prst="rect">
            <a:avLst/>
          </a:prstGeom>
          <a:solidFill>
            <a:srgbClr val="D6D9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397849" y="5053888"/>
            <a:ext cx="344728" cy="270662"/>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97849" y="5104638"/>
            <a:ext cx="344728" cy="236829"/>
          </a:xfrm>
          <a:prstGeom prst="rect">
            <a:avLst/>
          </a:prstGeom>
          <a:noFill/>
        </p:spPr>
        <p:txBody>
          <a:bodyPr wrap="none" lIns="0" rIns="0" tIns="0" bIns="0">
            <a:spAutoFit/>
          </a:bodyPr>
          <a:lstStyle/>
          <a:p>
            <a:pPr algn="ctr">
              <a:lnSpc>
                <a:spcPct val="108000"/>
              </a:lnSpc>
              <a:spcAft>
                <a:spcPts val="0"/>
              </a:spcAft>
              <a:defRPr sz="1000" b="1">
                <a:solidFill>
                  <a:srgbClr val="192E30"/>
                </a:solidFill>
                <a:latin typeface="Arial"/>
              </a:defRPr>
            </a:pPr>
            <a:r>
              <a:t>S</a:t>
            </a:r>
          </a:p>
        </p:txBody>
      </p:sp>
      <p:sp>
        <p:nvSpPr>
          <p:cNvPr id="43" name="Rectangle 42"/>
          <p:cNvSpPr/>
          <p:nvPr/>
        </p:nvSpPr>
        <p:spPr>
          <a:xfrm>
            <a:off x="8848648" y="5053888"/>
            <a:ext cx="344728" cy="270662"/>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48648" y="5104638"/>
            <a:ext cx="344728" cy="236829"/>
          </a:xfrm>
          <a:prstGeom prst="rect">
            <a:avLst/>
          </a:prstGeom>
          <a:noFill/>
        </p:spPr>
        <p:txBody>
          <a:bodyPr wrap="none" lIns="0" rIns="0" tIns="0" bIns="0">
            <a:spAutoFit/>
          </a:bodyPr>
          <a:lstStyle/>
          <a:p>
            <a:pPr algn="ctr">
              <a:lnSpc>
                <a:spcPct val="108000"/>
              </a:lnSpc>
              <a:spcAft>
                <a:spcPts val="0"/>
              </a:spcAft>
              <a:defRPr sz="1000" b="1">
                <a:solidFill>
                  <a:srgbClr val="192E30"/>
                </a:solidFill>
                <a:latin typeface="Arial"/>
              </a:defRPr>
            </a:pPr>
            <a:r>
              <a:t>M</a:t>
            </a:r>
          </a:p>
        </p:txBody>
      </p:sp>
      <p:sp>
        <p:nvSpPr>
          <p:cNvPr id="45" name="Rectangle 44"/>
          <p:cNvSpPr/>
          <p:nvPr/>
        </p:nvSpPr>
        <p:spPr>
          <a:xfrm>
            <a:off x="9299448" y="5053888"/>
            <a:ext cx="344728" cy="270662"/>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99448" y="5104638"/>
            <a:ext cx="344728" cy="236829"/>
          </a:xfrm>
          <a:prstGeom prst="rect">
            <a:avLst/>
          </a:prstGeom>
          <a:noFill/>
        </p:spPr>
        <p:txBody>
          <a:bodyPr wrap="none" lIns="0" rIns="0" tIns="0" bIns="0">
            <a:spAutoFit/>
          </a:bodyPr>
          <a:lstStyle/>
          <a:p>
            <a:pPr algn="ctr">
              <a:lnSpc>
                <a:spcPct val="108000"/>
              </a:lnSpc>
              <a:spcAft>
                <a:spcPts val="0"/>
              </a:spcAft>
              <a:defRPr sz="1000" b="1">
                <a:solidFill>
                  <a:srgbClr val="192E30"/>
                </a:solidFill>
                <a:latin typeface="Arial"/>
              </a:defRPr>
            </a:pPr>
            <a:r>
              <a:t>L</a:t>
            </a:r>
          </a:p>
        </p:txBody>
      </p:sp>
      <p:sp>
        <p:nvSpPr>
          <p:cNvPr id="47" name="Rounded Rectangle 46"/>
          <p:cNvSpPr/>
          <p:nvPr/>
        </p:nvSpPr>
        <p:spPr>
          <a:xfrm>
            <a:off x="8397849" y="5493715"/>
            <a:ext cx="2121408" cy="270662"/>
          </a:xfrm>
          <a:prstGeom prst="roundRect">
            <a:avLst>
              <a:gd name="adj" fmla="val 13000"/>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1E9"/>
        </a:solidFill>
        <a:effectLst/>
      </p:bgPr>
    </p:bg>
    <p:spTree>
      <p:nvGrpSpPr>
        <p:cNvPr id="1" name=""/>
        <p:cNvGrpSpPr/>
        <p:nvPr/>
      </p:nvGrpSpPr>
      <p:grpSpPr/>
      <p:sp>
        <p:nvSpPr>
          <p:cNvPr id="2" name="TextBox 1"/>
          <p:cNvSpPr txBox="1"/>
          <p:nvPr/>
        </p:nvSpPr>
        <p:spPr>
          <a:xfrm>
            <a:off x="548640" y="292608"/>
            <a:ext cx="4572000" cy="210312"/>
          </a:xfrm>
          <a:prstGeom prst="rect">
            <a:avLst/>
          </a:prstGeom>
          <a:noFill/>
        </p:spPr>
        <p:txBody>
          <a:bodyPr wrap="none" lIns="0" rIns="0" tIns="0" bIns="0">
            <a:spAutoFit/>
          </a:bodyPr>
          <a:lstStyle/>
          <a:p>
            <a:pPr>
              <a:lnSpc>
                <a:spcPct val="108000"/>
              </a:lnSpc>
              <a:spcAft>
                <a:spcPts val="0"/>
              </a:spcAft>
              <a:defRPr sz="1000" b="1">
                <a:solidFill>
                  <a:srgbClr val="64716C"/>
                </a:solidFill>
                <a:latin typeface="Arial"/>
              </a:defRPr>
            </a:pPr>
            <a:r>
              <a:t>MODA URBANA</a:t>
            </a:r>
          </a:p>
        </p:txBody>
      </p:sp>
      <p:sp>
        <p:nvSpPr>
          <p:cNvPr id="3" name="TextBox 2"/>
          <p:cNvSpPr txBox="1"/>
          <p:nvPr/>
        </p:nvSpPr>
        <p:spPr>
          <a:xfrm>
            <a:off x="11109960" y="292608"/>
            <a:ext cx="502920" cy="210312"/>
          </a:xfrm>
          <a:prstGeom prst="rect">
            <a:avLst/>
          </a:prstGeom>
          <a:noFill/>
        </p:spPr>
        <p:txBody>
          <a:bodyPr wrap="none" lIns="0" rIns="0" tIns="0" bIns="0">
            <a:spAutoFit/>
          </a:bodyPr>
          <a:lstStyle/>
          <a:p>
            <a:pPr algn="ctr">
              <a:lnSpc>
                <a:spcPct val="108000"/>
              </a:lnSpc>
              <a:spcAft>
                <a:spcPts val="0"/>
              </a:spcAft>
              <a:defRPr sz="1000" b="1">
                <a:solidFill>
                  <a:srgbClr val="64716C"/>
                </a:solidFill>
                <a:latin typeface="Arial"/>
              </a:defRPr>
            </a:pPr>
            <a:r>
              <a:t>02</a:t>
            </a:r>
          </a:p>
        </p:txBody>
      </p:sp>
      <p:sp>
        <p:nvSpPr>
          <p:cNvPr id="4" name="TextBox 3"/>
          <p:cNvSpPr txBox="1"/>
          <p:nvPr/>
        </p:nvSpPr>
        <p:spPr>
          <a:xfrm>
            <a:off x="548640" y="859536"/>
            <a:ext cx="11064240" cy="685800"/>
          </a:xfrm>
          <a:prstGeom prst="rect">
            <a:avLst/>
          </a:prstGeom>
          <a:noFill/>
        </p:spPr>
        <p:txBody>
          <a:bodyPr wrap="none" lIns="0" rIns="0" tIns="0" bIns="0">
            <a:spAutoFit/>
          </a:bodyPr>
          <a:lstStyle/>
          <a:p>
            <a:pPr>
              <a:lnSpc>
                <a:spcPct val="108000"/>
              </a:lnSpc>
              <a:spcAft>
                <a:spcPts val="0"/>
              </a:spcAft>
              <a:defRPr sz="3400" b="1">
                <a:solidFill>
                  <a:srgbClr val="192E30"/>
                </a:solidFill>
                <a:latin typeface="Arial"/>
              </a:defRPr>
            </a:pPr>
            <a:r>
              <a:t>El recorrido</a:t>
            </a:r>
          </a:p>
        </p:txBody>
      </p:sp>
      <p:sp>
        <p:nvSpPr>
          <p:cNvPr id="5" name="TextBox 4"/>
          <p:cNvSpPr txBox="1"/>
          <p:nvPr/>
        </p:nvSpPr>
        <p:spPr>
          <a:xfrm>
            <a:off x="548640" y="6464808"/>
            <a:ext cx="3657600" cy="210312"/>
          </a:xfrm>
          <a:prstGeom prst="rect">
            <a:avLst/>
          </a:prstGeom>
          <a:noFill/>
        </p:spPr>
        <p:txBody>
          <a:bodyPr wrap="none" lIns="0" rIns="0" tIns="0" bIns="0">
            <a:spAutoFit/>
          </a:bodyPr>
          <a:lstStyle/>
          <a:p>
            <a:pPr>
              <a:lnSpc>
                <a:spcPct val="108000"/>
              </a:lnSpc>
              <a:spcAft>
                <a:spcPts val="0"/>
              </a:spcAft>
              <a:defRPr sz="900" b="0">
                <a:solidFill>
                  <a:srgbClr val="64716C"/>
                </a:solidFill>
                <a:latin typeface="Arial"/>
              </a:defRPr>
            </a:pPr>
            <a:r>
              <a:t>Caso ficticio</a:t>
            </a:r>
          </a:p>
        </p:txBody>
      </p:sp>
      <p:sp>
        <p:nvSpPr>
          <p:cNvPr id="6" name="Rounded Rectangle 5"/>
          <p:cNvSpPr/>
          <p:nvPr/>
        </p:nvSpPr>
        <p:spPr>
          <a:xfrm>
            <a:off x="822960" y="2560320"/>
            <a:ext cx="2743200" cy="2029967"/>
          </a:xfrm>
          <a:prstGeom prst="roundRect">
            <a:avLst>
              <a:gd name="adj" fmla="val 13000"/>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61872" y="2944368"/>
            <a:ext cx="1865376" cy="438912"/>
          </a:xfrm>
          <a:prstGeom prst="rect">
            <a:avLst/>
          </a:pr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61872" y="2944368"/>
            <a:ext cx="153619" cy="43891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71853" y="2944368"/>
            <a:ext cx="153619" cy="43891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81835" y="2944368"/>
            <a:ext cx="153619" cy="43891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91816" y="2944368"/>
            <a:ext cx="153619" cy="43891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01798" y="2944368"/>
            <a:ext cx="153619" cy="43891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1780" y="2944368"/>
            <a:ext cx="153619" cy="43891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79576" y="3547872"/>
            <a:ext cx="1152144" cy="79552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78608" y="3520439"/>
            <a:ext cx="603504" cy="1069848"/>
          </a:xfrm>
          <a:prstGeom prst="rect">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1371000" y="3682506"/>
            <a:ext cx="658080" cy="631574"/>
          </a:xfrm>
          <a:custGeom>
            <a:avLst/>
            <a:gdLst/>
            <a:ahLst/>
            <a:cxnLst/>
            <a:rect l="l" t="t" r="r" b="b"/>
            <a:pathLst>
              <a:path w="720" h="691">
                <a:moveTo>
                  <a:pt x="65" y="115"/>
                </a:moveTo>
                <a:lnTo>
                  <a:pt x="245" y="0"/>
                </a:lnTo>
                <a:lnTo>
                  <a:pt x="310" y="57"/>
                </a:lnTo>
                <a:lnTo>
                  <a:pt x="410" y="57"/>
                </a:lnTo>
                <a:lnTo>
                  <a:pt x="475" y="0"/>
                </a:lnTo>
                <a:lnTo>
                  <a:pt x="655" y="115"/>
                </a:lnTo>
                <a:lnTo>
                  <a:pt x="720" y="266"/>
                </a:lnTo>
                <a:lnTo>
                  <a:pt x="569" y="331"/>
                </a:lnTo>
                <a:lnTo>
                  <a:pt x="526" y="237"/>
                </a:lnTo>
                <a:lnTo>
                  <a:pt x="526" y="691"/>
                </a:lnTo>
                <a:lnTo>
                  <a:pt x="194" y="691"/>
                </a:lnTo>
                <a:lnTo>
                  <a:pt x="194" y="237"/>
                </a:lnTo>
                <a:lnTo>
                  <a:pt x="151" y="331"/>
                </a:lnTo>
                <a:lnTo>
                  <a:pt x="0" y="266"/>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654698" y="3743187"/>
            <a:ext cx="92171"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657600" y="3520440"/>
            <a:ext cx="685800" cy="0"/>
          </a:xfrm>
          <a:prstGeom prst="line">
            <a:avLst/>
          </a:prstGeom>
          <a:ln w="38100">
            <a:solidFill>
              <a:srgbClr val="D65A3A"/>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4158700" y="3400080"/>
            <a:ext cx="274200" cy="237640"/>
          </a:xfrm>
          <a:custGeom>
            <a:avLst/>
            <a:gdLst/>
            <a:ahLst/>
            <a:cxnLst/>
            <a:rect l="l" t="t" r="r" b="b"/>
            <a:pathLst>
              <a:path w="300" h="260">
                <a:moveTo>
                  <a:pt x="0" y="0"/>
                </a:moveTo>
                <a:lnTo>
                  <a:pt x="300" y="130"/>
                </a:lnTo>
                <a:lnTo>
                  <a:pt x="0" y="260"/>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572000" y="2423160"/>
            <a:ext cx="2834640" cy="246888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0" y="2423160"/>
            <a:ext cx="2834640" cy="271576"/>
          </a:xfrm>
          <a:prstGeom prst="rect">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657039" y="2509570"/>
            <a:ext cx="39684" cy="39684"/>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36409" y="2509570"/>
            <a:ext cx="39684" cy="39684"/>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15779" y="2509570"/>
            <a:ext cx="39684" cy="39684"/>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699558" y="2867558"/>
            <a:ext cx="1048816" cy="1777593"/>
          </a:xfrm>
          <a:prstGeom prst="roundRect">
            <a:avLst>
              <a:gd name="adj" fmla="val 13000"/>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4782048" y="3146902"/>
            <a:ext cx="850020" cy="816202"/>
          </a:xfrm>
          <a:custGeom>
            <a:avLst/>
            <a:gdLst/>
            <a:ahLst/>
            <a:cxnLst/>
            <a:rect l="l" t="t" r="r" b="b"/>
            <a:pathLst>
              <a:path w="930" h="893">
                <a:moveTo>
                  <a:pt x="84" y="149"/>
                </a:moveTo>
                <a:lnTo>
                  <a:pt x="317" y="0"/>
                </a:lnTo>
                <a:lnTo>
                  <a:pt x="400" y="75"/>
                </a:lnTo>
                <a:lnTo>
                  <a:pt x="531" y="75"/>
                </a:lnTo>
                <a:lnTo>
                  <a:pt x="614" y="0"/>
                </a:lnTo>
                <a:lnTo>
                  <a:pt x="847" y="149"/>
                </a:lnTo>
                <a:lnTo>
                  <a:pt x="930" y="344"/>
                </a:lnTo>
                <a:lnTo>
                  <a:pt x="735" y="428"/>
                </a:lnTo>
                <a:lnTo>
                  <a:pt x="679" y="307"/>
                </a:lnTo>
                <a:lnTo>
                  <a:pt x="679" y="893"/>
                </a:lnTo>
                <a:lnTo>
                  <a:pt x="252" y="893"/>
                </a:lnTo>
                <a:lnTo>
                  <a:pt x="252" y="307"/>
                </a:lnTo>
                <a:lnTo>
                  <a:pt x="196" y="428"/>
                </a:lnTo>
                <a:lnTo>
                  <a:pt x="0" y="344"/>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5150266" y="3224997"/>
            <a:ext cx="119055"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932627" y="2892247"/>
            <a:ext cx="368503" cy="691286"/>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5958366" y="2976898"/>
            <a:ext cx="297050" cy="285168"/>
          </a:xfrm>
          <a:custGeom>
            <a:avLst/>
            <a:gdLst/>
            <a:ahLst/>
            <a:cxnLst/>
            <a:rect l="l" t="t" r="r" b="b"/>
            <a:pathLst>
              <a:path w="325" h="312">
                <a:moveTo>
                  <a:pt x="29" y="52"/>
                </a:moveTo>
                <a:lnTo>
                  <a:pt x="111" y="0"/>
                </a:lnTo>
                <a:lnTo>
                  <a:pt x="140" y="26"/>
                </a:lnTo>
                <a:lnTo>
                  <a:pt x="186" y="26"/>
                </a:lnTo>
                <a:lnTo>
                  <a:pt x="215" y="0"/>
                </a:lnTo>
                <a:lnTo>
                  <a:pt x="296" y="52"/>
                </a:lnTo>
                <a:lnTo>
                  <a:pt x="325" y="120"/>
                </a:lnTo>
                <a:lnTo>
                  <a:pt x="257" y="150"/>
                </a:lnTo>
                <a:lnTo>
                  <a:pt x="238" y="107"/>
                </a:lnTo>
                <a:lnTo>
                  <a:pt x="238" y="312"/>
                </a:lnTo>
                <a:lnTo>
                  <a:pt x="88" y="312"/>
                </a:lnTo>
                <a:lnTo>
                  <a:pt x="88" y="107"/>
                </a:lnTo>
                <a:lnTo>
                  <a:pt x="68" y="150"/>
                </a:lnTo>
                <a:lnTo>
                  <a:pt x="0" y="120"/>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6088957" y="3005006"/>
            <a:ext cx="41669"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386169" y="2892247"/>
            <a:ext cx="368503" cy="691286"/>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411710" y="2976898"/>
            <a:ext cx="297050" cy="285168"/>
          </a:xfrm>
          <a:custGeom>
            <a:avLst/>
            <a:gdLst/>
            <a:ahLst/>
            <a:cxnLst/>
            <a:rect l="l" t="t" r="r" b="b"/>
            <a:pathLst>
              <a:path w="325" h="312">
                <a:moveTo>
                  <a:pt x="29" y="52"/>
                </a:moveTo>
                <a:lnTo>
                  <a:pt x="111" y="0"/>
                </a:lnTo>
                <a:lnTo>
                  <a:pt x="140" y="26"/>
                </a:lnTo>
                <a:lnTo>
                  <a:pt x="186" y="26"/>
                </a:lnTo>
                <a:lnTo>
                  <a:pt x="215" y="0"/>
                </a:lnTo>
                <a:lnTo>
                  <a:pt x="296" y="52"/>
                </a:lnTo>
                <a:lnTo>
                  <a:pt x="325" y="120"/>
                </a:lnTo>
                <a:lnTo>
                  <a:pt x="257" y="150"/>
                </a:lnTo>
                <a:lnTo>
                  <a:pt x="238" y="107"/>
                </a:lnTo>
                <a:lnTo>
                  <a:pt x="238" y="312"/>
                </a:lnTo>
                <a:lnTo>
                  <a:pt x="88" y="312"/>
                </a:lnTo>
                <a:lnTo>
                  <a:pt x="88" y="107"/>
                </a:lnTo>
                <a:lnTo>
                  <a:pt x="68" y="150"/>
                </a:lnTo>
                <a:lnTo>
                  <a:pt x="0" y="120"/>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6542499" y="3005006"/>
            <a:ext cx="41670"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839712" y="2892247"/>
            <a:ext cx="368503" cy="691286"/>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6865054" y="2976898"/>
            <a:ext cx="297050" cy="285168"/>
          </a:xfrm>
          <a:custGeom>
            <a:avLst/>
            <a:gdLst/>
            <a:ahLst/>
            <a:cxnLst/>
            <a:rect l="l" t="t" r="r" b="b"/>
            <a:pathLst>
              <a:path w="325" h="312">
                <a:moveTo>
                  <a:pt x="29" y="52"/>
                </a:moveTo>
                <a:lnTo>
                  <a:pt x="111" y="0"/>
                </a:lnTo>
                <a:lnTo>
                  <a:pt x="140" y="26"/>
                </a:lnTo>
                <a:lnTo>
                  <a:pt x="186" y="26"/>
                </a:lnTo>
                <a:lnTo>
                  <a:pt x="215" y="0"/>
                </a:lnTo>
                <a:lnTo>
                  <a:pt x="296" y="52"/>
                </a:lnTo>
                <a:lnTo>
                  <a:pt x="325" y="120"/>
                </a:lnTo>
                <a:lnTo>
                  <a:pt x="257" y="150"/>
                </a:lnTo>
                <a:lnTo>
                  <a:pt x="238" y="107"/>
                </a:lnTo>
                <a:lnTo>
                  <a:pt x="238" y="312"/>
                </a:lnTo>
                <a:lnTo>
                  <a:pt x="88" y="312"/>
                </a:lnTo>
                <a:lnTo>
                  <a:pt x="88" y="107"/>
                </a:lnTo>
                <a:lnTo>
                  <a:pt x="68" y="150"/>
                </a:lnTo>
                <a:lnTo>
                  <a:pt x="0" y="120"/>
                </a:lnTo>
                <a:close/>
              </a:path>
            </a:pathLst>
          </a:custGeom>
          <a:solidFill>
            <a:srgbClr val="64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6996042" y="3005006"/>
            <a:ext cx="41669"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932627" y="3756355"/>
            <a:ext cx="1133856" cy="66659"/>
          </a:xfrm>
          <a:prstGeom prst="rect">
            <a:avLst/>
          </a:prstGeom>
          <a:solidFill>
            <a:srgbClr val="D6D9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932627" y="3929176"/>
            <a:ext cx="793699" cy="66659"/>
          </a:xfrm>
          <a:prstGeom prst="rect">
            <a:avLst/>
          </a:prstGeom>
          <a:solidFill>
            <a:srgbClr val="D6D9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32627" y="4176064"/>
            <a:ext cx="184251" cy="197510"/>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32627" y="4213098"/>
            <a:ext cx="184251" cy="172821"/>
          </a:xfrm>
          <a:prstGeom prst="rect">
            <a:avLst/>
          </a:prstGeom>
          <a:noFill/>
        </p:spPr>
        <p:txBody>
          <a:bodyPr wrap="none" lIns="0" rIns="0" tIns="0" bIns="0">
            <a:spAutoFit/>
          </a:bodyPr>
          <a:lstStyle/>
          <a:p>
            <a:pPr algn="ctr">
              <a:lnSpc>
                <a:spcPct val="108000"/>
              </a:lnSpc>
              <a:spcAft>
                <a:spcPts val="0"/>
              </a:spcAft>
              <a:defRPr sz="700" b="1">
                <a:solidFill>
                  <a:srgbClr val="192E30"/>
                </a:solidFill>
                <a:latin typeface="Arial"/>
              </a:defRPr>
            </a:pPr>
            <a:r>
              <a:t>S</a:t>
            </a:r>
          </a:p>
        </p:txBody>
      </p:sp>
      <p:sp>
        <p:nvSpPr>
          <p:cNvPr id="41" name="Rectangle 40"/>
          <p:cNvSpPr/>
          <p:nvPr/>
        </p:nvSpPr>
        <p:spPr>
          <a:xfrm>
            <a:off x="6173571" y="4176064"/>
            <a:ext cx="184251" cy="197510"/>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73571" y="4213098"/>
            <a:ext cx="184251" cy="172821"/>
          </a:xfrm>
          <a:prstGeom prst="rect">
            <a:avLst/>
          </a:prstGeom>
          <a:noFill/>
        </p:spPr>
        <p:txBody>
          <a:bodyPr wrap="none" lIns="0" rIns="0" tIns="0" bIns="0">
            <a:spAutoFit/>
          </a:bodyPr>
          <a:lstStyle/>
          <a:p>
            <a:pPr algn="ctr">
              <a:lnSpc>
                <a:spcPct val="108000"/>
              </a:lnSpc>
              <a:spcAft>
                <a:spcPts val="0"/>
              </a:spcAft>
              <a:defRPr sz="700" b="1">
                <a:solidFill>
                  <a:srgbClr val="192E30"/>
                </a:solidFill>
                <a:latin typeface="Arial"/>
              </a:defRPr>
            </a:pPr>
            <a:r>
              <a:t>M</a:t>
            </a:r>
          </a:p>
        </p:txBody>
      </p:sp>
      <p:sp>
        <p:nvSpPr>
          <p:cNvPr id="43" name="Rectangle 42"/>
          <p:cNvSpPr/>
          <p:nvPr/>
        </p:nvSpPr>
        <p:spPr>
          <a:xfrm>
            <a:off x="6414516" y="4176064"/>
            <a:ext cx="184251" cy="197510"/>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14516" y="4213098"/>
            <a:ext cx="184251" cy="172821"/>
          </a:xfrm>
          <a:prstGeom prst="rect">
            <a:avLst/>
          </a:prstGeom>
          <a:noFill/>
        </p:spPr>
        <p:txBody>
          <a:bodyPr wrap="none" lIns="0" rIns="0" tIns="0" bIns="0">
            <a:spAutoFit/>
          </a:bodyPr>
          <a:lstStyle/>
          <a:p>
            <a:pPr algn="ctr">
              <a:lnSpc>
                <a:spcPct val="108000"/>
              </a:lnSpc>
              <a:spcAft>
                <a:spcPts val="0"/>
              </a:spcAft>
              <a:defRPr sz="700" b="1">
                <a:solidFill>
                  <a:srgbClr val="192E30"/>
                </a:solidFill>
                <a:latin typeface="Arial"/>
              </a:defRPr>
            </a:pPr>
            <a:r>
              <a:t>L</a:t>
            </a:r>
          </a:p>
        </p:txBody>
      </p:sp>
      <p:sp>
        <p:nvSpPr>
          <p:cNvPr id="45" name="Rounded Rectangle 44"/>
          <p:cNvSpPr/>
          <p:nvPr/>
        </p:nvSpPr>
        <p:spPr>
          <a:xfrm>
            <a:off x="5932627" y="4497019"/>
            <a:ext cx="1133856" cy="197510"/>
          </a:xfrm>
          <a:prstGeom prst="roundRect">
            <a:avLst>
              <a:gd name="adj" fmla="val 13000"/>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7635240" y="3520440"/>
            <a:ext cx="685800" cy="0"/>
          </a:xfrm>
          <a:prstGeom prst="line">
            <a:avLst/>
          </a:prstGeom>
          <a:ln w="38100">
            <a:solidFill>
              <a:srgbClr val="D65A3A"/>
            </a:solidFill>
          </a:ln>
        </p:spPr>
        <p:style>
          <a:lnRef idx="2">
            <a:schemeClr val="accent1"/>
          </a:lnRef>
          <a:fillRef idx="0">
            <a:schemeClr val="accent1"/>
          </a:fillRef>
          <a:effectRef idx="1">
            <a:schemeClr val="accent1"/>
          </a:effectRef>
          <a:fontRef idx="minor">
            <a:schemeClr val="tx1"/>
          </a:fontRef>
        </p:style>
      </p:cxnSp>
      <p:sp>
        <p:nvSpPr>
          <p:cNvPr id="47" name="Freeform 46"/>
          <p:cNvSpPr/>
          <p:nvPr/>
        </p:nvSpPr>
        <p:spPr>
          <a:xfrm>
            <a:off x="8134600" y="3400080"/>
            <a:ext cx="274200" cy="237640"/>
          </a:xfrm>
          <a:custGeom>
            <a:avLst/>
            <a:gdLst/>
            <a:ahLst/>
            <a:cxnLst/>
            <a:rect l="l" t="t" r="r" b="b"/>
            <a:pathLst>
              <a:path w="300" h="260">
                <a:moveTo>
                  <a:pt x="0" y="0"/>
                </a:moveTo>
                <a:lnTo>
                  <a:pt x="300" y="130"/>
                </a:lnTo>
                <a:lnTo>
                  <a:pt x="0" y="260"/>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823960" y="2651760"/>
            <a:ext cx="2377440" cy="2377440"/>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9454896" y="3902202"/>
            <a:ext cx="336499" cy="347014"/>
          </a:xfrm>
          <a:prstGeom prst="line">
            <a:avLst/>
          </a:prstGeom>
          <a:ln w="63500">
            <a:solidFill>
              <a:srgbClr val="34675C"/>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9791395" y="3429000"/>
            <a:ext cx="715061" cy="820216"/>
          </a:xfrm>
          <a:prstGeom prst="line">
            <a:avLst/>
          </a:prstGeom>
          <a:ln w="63500">
            <a:solidFill>
              <a:srgbClr val="34675C"/>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822960" y="5349240"/>
            <a:ext cx="2743200" cy="457200"/>
          </a:xfrm>
          <a:prstGeom prst="rect">
            <a:avLst/>
          </a:prstGeom>
          <a:noFill/>
        </p:spPr>
        <p:txBody>
          <a:bodyPr wrap="none" lIns="0" rIns="0" tIns="0" bIns="0">
            <a:spAutoFit/>
          </a:bodyPr>
          <a:lstStyle/>
          <a:p>
            <a:pPr algn="ctr">
              <a:lnSpc>
                <a:spcPct val="108000"/>
              </a:lnSpc>
              <a:spcAft>
                <a:spcPts val="0"/>
              </a:spcAft>
              <a:defRPr sz="2400" b="1">
                <a:solidFill>
                  <a:srgbClr val="192E30"/>
                </a:solidFill>
                <a:latin typeface="Arial"/>
              </a:defRPr>
            </a:pPr>
            <a:r>
              <a:t>ANTES</a:t>
            </a:r>
          </a:p>
        </p:txBody>
      </p:sp>
      <p:sp>
        <p:nvSpPr>
          <p:cNvPr id="52" name="TextBox 51"/>
          <p:cNvSpPr txBox="1"/>
          <p:nvPr/>
        </p:nvSpPr>
        <p:spPr>
          <a:xfrm>
            <a:off x="4572000" y="5349240"/>
            <a:ext cx="2834640" cy="457200"/>
          </a:xfrm>
          <a:prstGeom prst="rect">
            <a:avLst/>
          </a:prstGeom>
          <a:noFill/>
        </p:spPr>
        <p:txBody>
          <a:bodyPr wrap="none" lIns="0" rIns="0" tIns="0" bIns="0">
            <a:spAutoFit/>
          </a:bodyPr>
          <a:lstStyle/>
          <a:p>
            <a:pPr algn="ctr">
              <a:lnSpc>
                <a:spcPct val="108000"/>
              </a:lnSpc>
              <a:spcAft>
                <a:spcPts val="0"/>
              </a:spcAft>
              <a:defRPr sz="2400" b="1">
                <a:solidFill>
                  <a:srgbClr val="D65A3A"/>
                </a:solidFill>
                <a:latin typeface="Arial"/>
              </a:defRPr>
            </a:pPr>
            <a:r>
              <a:t>CAMBIO</a:t>
            </a:r>
          </a:p>
        </p:txBody>
      </p:sp>
      <p:sp>
        <p:nvSpPr>
          <p:cNvPr id="53" name="TextBox 52"/>
          <p:cNvSpPr txBox="1"/>
          <p:nvPr/>
        </p:nvSpPr>
        <p:spPr>
          <a:xfrm>
            <a:off x="8595360" y="5349240"/>
            <a:ext cx="2834640" cy="457200"/>
          </a:xfrm>
          <a:prstGeom prst="rect">
            <a:avLst/>
          </a:prstGeom>
          <a:noFill/>
        </p:spPr>
        <p:txBody>
          <a:bodyPr wrap="none" lIns="0" rIns="0" tIns="0" bIns="0">
            <a:spAutoFit/>
          </a:bodyPr>
          <a:lstStyle/>
          <a:p>
            <a:pPr algn="ctr">
              <a:lnSpc>
                <a:spcPct val="108000"/>
              </a:lnSpc>
              <a:spcAft>
                <a:spcPts val="0"/>
              </a:spcAft>
              <a:defRPr sz="2400" b="1">
                <a:solidFill>
                  <a:srgbClr val="34675C"/>
                </a:solidFill>
                <a:latin typeface="Arial"/>
              </a:defRPr>
            </a:pPr>
            <a:r>
              <a:t>MEJORA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1E9"/>
        </a:solidFill>
        <a:effectLst/>
      </p:bgPr>
    </p:bg>
    <p:spTree>
      <p:nvGrpSpPr>
        <p:cNvPr id="1" name=""/>
        <p:cNvGrpSpPr/>
        <p:nvPr/>
      </p:nvGrpSpPr>
      <p:grpSpPr/>
      <p:sp>
        <p:nvSpPr>
          <p:cNvPr id="2" name="TextBox 1"/>
          <p:cNvSpPr txBox="1"/>
          <p:nvPr/>
        </p:nvSpPr>
        <p:spPr>
          <a:xfrm>
            <a:off x="548640" y="292608"/>
            <a:ext cx="4572000" cy="210312"/>
          </a:xfrm>
          <a:prstGeom prst="rect">
            <a:avLst/>
          </a:prstGeom>
          <a:noFill/>
        </p:spPr>
        <p:txBody>
          <a:bodyPr wrap="none" lIns="0" rIns="0" tIns="0" bIns="0">
            <a:spAutoFit/>
          </a:bodyPr>
          <a:lstStyle/>
          <a:p>
            <a:pPr>
              <a:lnSpc>
                <a:spcPct val="108000"/>
              </a:lnSpc>
              <a:spcAft>
                <a:spcPts val="0"/>
              </a:spcAft>
              <a:defRPr sz="1000" b="1">
                <a:solidFill>
                  <a:srgbClr val="64716C"/>
                </a:solidFill>
                <a:latin typeface="Arial"/>
              </a:defRPr>
            </a:pPr>
            <a:r>
              <a:t>MODA URBANA</a:t>
            </a:r>
          </a:p>
        </p:txBody>
      </p:sp>
      <p:sp>
        <p:nvSpPr>
          <p:cNvPr id="3" name="TextBox 2"/>
          <p:cNvSpPr txBox="1"/>
          <p:nvPr/>
        </p:nvSpPr>
        <p:spPr>
          <a:xfrm>
            <a:off x="11109960" y="292608"/>
            <a:ext cx="502920" cy="210312"/>
          </a:xfrm>
          <a:prstGeom prst="rect">
            <a:avLst/>
          </a:prstGeom>
          <a:noFill/>
        </p:spPr>
        <p:txBody>
          <a:bodyPr wrap="none" lIns="0" rIns="0" tIns="0" bIns="0">
            <a:spAutoFit/>
          </a:bodyPr>
          <a:lstStyle/>
          <a:p>
            <a:pPr algn="ctr">
              <a:lnSpc>
                <a:spcPct val="108000"/>
              </a:lnSpc>
              <a:spcAft>
                <a:spcPts val="0"/>
              </a:spcAft>
              <a:defRPr sz="1000" b="1">
                <a:solidFill>
                  <a:srgbClr val="64716C"/>
                </a:solidFill>
                <a:latin typeface="Arial"/>
              </a:defRPr>
            </a:pPr>
            <a:r>
              <a:t>03</a:t>
            </a:r>
          </a:p>
        </p:txBody>
      </p:sp>
      <p:sp>
        <p:nvSpPr>
          <p:cNvPr id="4" name="TextBox 3"/>
          <p:cNvSpPr txBox="1"/>
          <p:nvPr/>
        </p:nvSpPr>
        <p:spPr>
          <a:xfrm>
            <a:off x="548640" y="859536"/>
            <a:ext cx="11064240" cy="685800"/>
          </a:xfrm>
          <a:prstGeom prst="rect">
            <a:avLst/>
          </a:prstGeom>
          <a:noFill/>
        </p:spPr>
        <p:txBody>
          <a:bodyPr wrap="none" lIns="0" rIns="0" tIns="0" bIns="0">
            <a:spAutoFit/>
          </a:bodyPr>
          <a:lstStyle/>
          <a:p>
            <a:pPr>
              <a:lnSpc>
                <a:spcPct val="108000"/>
              </a:lnSpc>
              <a:spcAft>
                <a:spcPts val="0"/>
              </a:spcAft>
              <a:defRPr sz="3400" b="1">
                <a:solidFill>
                  <a:srgbClr val="192E30"/>
                </a:solidFill>
                <a:latin typeface="Arial"/>
              </a:defRPr>
            </a:pPr>
            <a:r>
              <a:t>Antes: todo depende del local</a:t>
            </a:r>
          </a:p>
        </p:txBody>
      </p:sp>
      <p:sp>
        <p:nvSpPr>
          <p:cNvPr id="5" name="TextBox 4"/>
          <p:cNvSpPr txBox="1"/>
          <p:nvPr/>
        </p:nvSpPr>
        <p:spPr>
          <a:xfrm>
            <a:off x="548640" y="6464808"/>
            <a:ext cx="3657600" cy="210312"/>
          </a:xfrm>
          <a:prstGeom prst="rect">
            <a:avLst/>
          </a:prstGeom>
          <a:noFill/>
        </p:spPr>
        <p:txBody>
          <a:bodyPr wrap="none" lIns="0" rIns="0" tIns="0" bIns="0">
            <a:spAutoFit/>
          </a:bodyPr>
          <a:lstStyle/>
          <a:p>
            <a:pPr>
              <a:lnSpc>
                <a:spcPct val="108000"/>
              </a:lnSpc>
              <a:spcAft>
                <a:spcPts val="0"/>
              </a:spcAft>
              <a:defRPr sz="900" b="0">
                <a:solidFill>
                  <a:srgbClr val="64716C"/>
                </a:solidFill>
                <a:latin typeface="Arial"/>
              </a:defRPr>
            </a:pPr>
            <a:r>
              <a:t>Caso ficticio</a:t>
            </a:r>
          </a:p>
        </p:txBody>
      </p:sp>
      <p:sp>
        <p:nvSpPr>
          <p:cNvPr id="6" name="Rounded Rectangle 5"/>
          <p:cNvSpPr/>
          <p:nvPr/>
        </p:nvSpPr>
        <p:spPr>
          <a:xfrm>
            <a:off x="777240" y="2377440"/>
            <a:ext cx="3886200" cy="2875788"/>
          </a:xfrm>
          <a:prstGeom prst="roundRect">
            <a:avLst>
              <a:gd name="adj" fmla="val 13000"/>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99032" y="2921508"/>
            <a:ext cx="2642616" cy="621792"/>
          </a:xfrm>
          <a:prstGeom prst="rect">
            <a:avLst/>
          </a:pr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99032" y="2921508"/>
            <a:ext cx="217627" cy="62179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38172" y="2921508"/>
            <a:ext cx="217627" cy="62179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277313" y="2921508"/>
            <a:ext cx="217627" cy="62179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16453" y="2921508"/>
            <a:ext cx="217627" cy="62179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155594" y="2921508"/>
            <a:ext cx="217627" cy="62179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94735" y="2921508"/>
            <a:ext cx="217627" cy="62179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82445" y="3776472"/>
            <a:ext cx="1632204" cy="112699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64408" y="3737610"/>
            <a:ext cx="854964" cy="1515618"/>
          </a:xfrm>
          <a:prstGeom prst="rect">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1553800" y="3967674"/>
            <a:ext cx="932280" cy="894806"/>
          </a:xfrm>
          <a:custGeom>
            <a:avLst/>
            <a:gdLst/>
            <a:ahLst/>
            <a:cxnLst/>
            <a:rect l="l" t="t" r="r" b="b"/>
            <a:pathLst>
              <a:path w="1020" h="979">
                <a:moveTo>
                  <a:pt x="92" y="163"/>
                </a:moveTo>
                <a:lnTo>
                  <a:pt x="347" y="0"/>
                </a:lnTo>
                <a:lnTo>
                  <a:pt x="439" y="81"/>
                </a:lnTo>
                <a:lnTo>
                  <a:pt x="581" y="81"/>
                </a:lnTo>
                <a:lnTo>
                  <a:pt x="673" y="0"/>
                </a:lnTo>
                <a:lnTo>
                  <a:pt x="928" y="163"/>
                </a:lnTo>
                <a:lnTo>
                  <a:pt x="1020" y="377"/>
                </a:lnTo>
                <a:lnTo>
                  <a:pt x="806" y="469"/>
                </a:lnTo>
                <a:lnTo>
                  <a:pt x="745" y="336"/>
                </a:lnTo>
                <a:lnTo>
                  <a:pt x="745" y="979"/>
                </a:lnTo>
                <a:lnTo>
                  <a:pt x="275" y="979"/>
                </a:lnTo>
                <a:lnTo>
                  <a:pt x="275" y="336"/>
                </a:lnTo>
                <a:lnTo>
                  <a:pt x="214" y="469"/>
                </a:lnTo>
                <a:lnTo>
                  <a:pt x="0" y="377"/>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955535" y="4053169"/>
            <a:ext cx="130577"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3794760" y="1965960"/>
            <a:ext cx="1234440" cy="1234440"/>
          </a:xfrm>
          <a:prstGeom prst="ellipse">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858768" y="2029967"/>
            <a:ext cx="1106424" cy="1106424"/>
          </a:xfrm>
          <a:prstGeom prst="ellipse">
            <a:avLst/>
          </a:prstGeom>
          <a:solidFill>
            <a:srgbClr val="F5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4411980" y="2212848"/>
            <a:ext cx="0" cy="370332"/>
          </a:xfrm>
          <a:prstGeom prst="line">
            <a:avLst/>
          </a:prstGeom>
          <a:ln w="38100">
            <a:solidFill>
              <a:srgbClr val="192E3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11980" y="2583180"/>
            <a:ext cx="320954" cy="185166"/>
          </a:xfrm>
          <a:prstGeom prst="line">
            <a:avLst/>
          </a:prstGeom>
          <a:ln w="38100">
            <a:solidFill>
              <a:srgbClr val="192E3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532120" y="2331720"/>
            <a:ext cx="2377440" cy="2880360"/>
          </a:xfrm>
          <a:prstGeom prst="roundRect">
            <a:avLst>
              <a:gd name="adj" fmla="val 13000"/>
            </a:avLst>
          </a:prstGeom>
          <a:solidFill>
            <a:srgbClr val="E8DA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660136" y="2441448"/>
            <a:ext cx="2148840" cy="2679191"/>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495544" y="2697479"/>
            <a:ext cx="109728" cy="109728"/>
          </a:xfrm>
          <a:prstGeom prst="ellipse">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495544" y="3209544"/>
            <a:ext cx="109728" cy="109728"/>
          </a:xfrm>
          <a:prstGeom prst="ellipse">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495544" y="3721608"/>
            <a:ext cx="109728" cy="109728"/>
          </a:xfrm>
          <a:prstGeom prst="ellipse">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495544" y="4233672"/>
            <a:ext cx="109728" cy="109728"/>
          </a:xfrm>
          <a:prstGeom prst="ellipse">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6035040" y="2834639"/>
            <a:ext cx="1554480" cy="0"/>
          </a:xfrm>
          <a:prstGeom prst="line">
            <a:avLst/>
          </a:prstGeom>
          <a:ln w="25400">
            <a:solidFill>
              <a:srgbClr val="D6D9C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035040" y="3291839"/>
            <a:ext cx="1554480" cy="0"/>
          </a:xfrm>
          <a:prstGeom prst="line">
            <a:avLst/>
          </a:prstGeom>
          <a:ln w="25400">
            <a:solidFill>
              <a:srgbClr val="D6D9C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035040" y="3749039"/>
            <a:ext cx="1554480" cy="0"/>
          </a:xfrm>
          <a:prstGeom prst="line">
            <a:avLst/>
          </a:prstGeom>
          <a:ln w="25400">
            <a:solidFill>
              <a:srgbClr val="D6D9C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035040" y="4206240"/>
            <a:ext cx="1554480" cy="0"/>
          </a:xfrm>
          <a:prstGeom prst="line">
            <a:avLst/>
          </a:prstGeom>
          <a:ln w="25400">
            <a:solidFill>
              <a:srgbClr val="D6D9C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172200" y="3273552"/>
            <a:ext cx="0" cy="356616"/>
          </a:xfrm>
          <a:prstGeom prst="line">
            <a:avLst/>
          </a:prstGeom>
          <a:ln w="25400">
            <a:solidFill>
              <a:srgbClr val="D65A3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373368" y="3273552"/>
            <a:ext cx="0" cy="356616"/>
          </a:xfrm>
          <a:prstGeom prst="line">
            <a:avLst/>
          </a:prstGeom>
          <a:ln w="25400">
            <a:solidFill>
              <a:srgbClr val="D65A3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574536" y="3273552"/>
            <a:ext cx="0" cy="356616"/>
          </a:xfrm>
          <a:prstGeom prst="line">
            <a:avLst/>
          </a:prstGeom>
          <a:ln w="25400">
            <a:solidFill>
              <a:srgbClr val="D65A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117336" y="3282696"/>
            <a:ext cx="658368" cy="320039"/>
          </a:xfrm>
          <a:prstGeom prst="line">
            <a:avLst/>
          </a:prstGeom>
          <a:ln w="25400">
            <a:solidFill>
              <a:srgbClr val="D65A3A"/>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8915400" y="2926080"/>
            <a:ext cx="1828800" cy="1280160"/>
          </a:xfrm>
          <a:prstGeom prst="rect">
            <a:avLst/>
          </a:prstGeom>
          <a:solidFill>
            <a:srgbClr val="E8DA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8911500" y="2522640"/>
            <a:ext cx="1937680" cy="402160"/>
          </a:xfrm>
          <a:custGeom>
            <a:avLst/>
            <a:gdLst/>
            <a:ahLst/>
            <a:cxnLst/>
            <a:rect l="l" t="t" r="r" b="b"/>
            <a:pathLst>
              <a:path w="2120" h="440">
                <a:moveTo>
                  <a:pt x="0" y="440"/>
                </a:moveTo>
                <a:lnTo>
                  <a:pt x="440" y="0"/>
                </a:lnTo>
                <a:lnTo>
                  <a:pt x="2120" y="0"/>
                </a:lnTo>
                <a:lnTo>
                  <a:pt x="2000" y="440"/>
                </a:lnTo>
                <a:close/>
              </a:path>
            </a:pathLst>
          </a:custGeom>
          <a:solidFill>
            <a:srgbClr val="D0BE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701784" y="2926080"/>
            <a:ext cx="256032"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134856" y="3438144"/>
            <a:ext cx="438912"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5513832"/>
            <a:ext cx="4114800" cy="411480"/>
          </a:xfrm>
          <a:prstGeom prst="rect">
            <a:avLst/>
          </a:prstGeom>
          <a:noFill/>
        </p:spPr>
        <p:txBody>
          <a:bodyPr wrap="none" lIns="0" rIns="0" tIns="0" bIns="0">
            <a:spAutoFit/>
          </a:bodyPr>
          <a:lstStyle/>
          <a:p>
            <a:pPr algn="ctr">
              <a:lnSpc>
                <a:spcPct val="108000"/>
              </a:lnSpc>
              <a:spcAft>
                <a:spcPts val="0"/>
              </a:spcAft>
              <a:defRPr sz="1800" b="1">
                <a:solidFill>
                  <a:srgbClr val="D65A3A"/>
                </a:solidFill>
                <a:latin typeface="Arial"/>
              </a:defRPr>
            </a:pPr>
            <a:r>
              <a:t>HORARIO LIMITADO</a:t>
            </a:r>
          </a:p>
        </p:txBody>
      </p:sp>
      <p:sp>
        <p:nvSpPr>
          <p:cNvPr id="41" name="TextBox 40"/>
          <p:cNvSpPr txBox="1"/>
          <p:nvPr/>
        </p:nvSpPr>
        <p:spPr>
          <a:xfrm>
            <a:off x="5120640" y="5513832"/>
            <a:ext cx="3200400" cy="411480"/>
          </a:xfrm>
          <a:prstGeom prst="rect">
            <a:avLst/>
          </a:prstGeom>
          <a:noFill/>
        </p:spPr>
        <p:txBody>
          <a:bodyPr wrap="none" lIns="0" rIns="0" tIns="0" bIns="0">
            <a:spAutoFit/>
          </a:bodyPr>
          <a:lstStyle/>
          <a:p>
            <a:pPr algn="ctr">
              <a:lnSpc>
                <a:spcPct val="108000"/>
              </a:lnSpc>
              <a:spcAft>
                <a:spcPts val="0"/>
              </a:spcAft>
              <a:defRPr sz="1800" b="1">
                <a:solidFill>
                  <a:srgbClr val="D65A3A"/>
                </a:solidFill>
                <a:latin typeface="Arial"/>
              </a:defRPr>
            </a:pPr>
            <a:r>
              <a:t>STOCK A MANO</a:t>
            </a:r>
          </a:p>
        </p:txBody>
      </p:sp>
      <p:sp>
        <p:nvSpPr>
          <p:cNvPr id="42" name="TextBox 41"/>
          <p:cNvSpPr txBox="1"/>
          <p:nvPr/>
        </p:nvSpPr>
        <p:spPr>
          <a:xfrm>
            <a:off x="8549640" y="5513832"/>
            <a:ext cx="2834640" cy="411480"/>
          </a:xfrm>
          <a:prstGeom prst="rect">
            <a:avLst/>
          </a:prstGeom>
          <a:noFill/>
        </p:spPr>
        <p:txBody>
          <a:bodyPr wrap="none" lIns="0" rIns="0" tIns="0" bIns="0">
            <a:spAutoFit/>
          </a:bodyPr>
          <a:lstStyle/>
          <a:p>
            <a:pPr algn="ctr">
              <a:lnSpc>
                <a:spcPct val="108000"/>
              </a:lnSpc>
              <a:spcAft>
                <a:spcPts val="0"/>
              </a:spcAft>
              <a:defRPr sz="1800" b="1">
                <a:solidFill>
                  <a:srgbClr val="D65A3A"/>
                </a:solidFill>
                <a:latin typeface="Arial"/>
              </a:defRPr>
            </a:pPr>
            <a:r>
              <a:t>ENCARGOS EN PAPEL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1E9"/>
        </a:solidFill>
        <a:effectLst/>
      </p:bgPr>
    </p:bg>
    <p:spTree>
      <p:nvGrpSpPr>
        <p:cNvPr id="1" name=""/>
        <p:cNvGrpSpPr/>
        <p:nvPr/>
      </p:nvGrpSpPr>
      <p:grpSpPr/>
      <p:sp>
        <p:nvSpPr>
          <p:cNvPr id="2" name="TextBox 1"/>
          <p:cNvSpPr txBox="1"/>
          <p:nvPr/>
        </p:nvSpPr>
        <p:spPr>
          <a:xfrm>
            <a:off x="548640" y="292608"/>
            <a:ext cx="4572000" cy="210312"/>
          </a:xfrm>
          <a:prstGeom prst="rect">
            <a:avLst/>
          </a:prstGeom>
          <a:noFill/>
        </p:spPr>
        <p:txBody>
          <a:bodyPr wrap="none" lIns="0" rIns="0" tIns="0" bIns="0">
            <a:spAutoFit/>
          </a:bodyPr>
          <a:lstStyle/>
          <a:p>
            <a:pPr>
              <a:lnSpc>
                <a:spcPct val="108000"/>
              </a:lnSpc>
              <a:spcAft>
                <a:spcPts val="0"/>
              </a:spcAft>
              <a:defRPr sz="1000" b="1">
                <a:solidFill>
                  <a:srgbClr val="64716C"/>
                </a:solidFill>
                <a:latin typeface="Arial"/>
              </a:defRPr>
            </a:pPr>
            <a:r>
              <a:t>MODA URBANA</a:t>
            </a:r>
          </a:p>
        </p:txBody>
      </p:sp>
      <p:sp>
        <p:nvSpPr>
          <p:cNvPr id="3" name="TextBox 2"/>
          <p:cNvSpPr txBox="1"/>
          <p:nvPr/>
        </p:nvSpPr>
        <p:spPr>
          <a:xfrm>
            <a:off x="11109960" y="292608"/>
            <a:ext cx="502920" cy="210312"/>
          </a:xfrm>
          <a:prstGeom prst="rect">
            <a:avLst/>
          </a:prstGeom>
          <a:noFill/>
        </p:spPr>
        <p:txBody>
          <a:bodyPr wrap="none" lIns="0" rIns="0" tIns="0" bIns="0">
            <a:spAutoFit/>
          </a:bodyPr>
          <a:lstStyle/>
          <a:p>
            <a:pPr algn="ctr">
              <a:lnSpc>
                <a:spcPct val="108000"/>
              </a:lnSpc>
              <a:spcAft>
                <a:spcPts val="0"/>
              </a:spcAft>
              <a:defRPr sz="1000" b="1">
                <a:solidFill>
                  <a:srgbClr val="64716C"/>
                </a:solidFill>
                <a:latin typeface="Arial"/>
              </a:defRPr>
            </a:pPr>
            <a:r>
              <a:t>04</a:t>
            </a:r>
          </a:p>
        </p:txBody>
      </p:sp>
      <p:sp>
        <p:nvSpPr>
          <p:cNvPr id="4" name="TextBox 3"/>
          <p:cNvSpPr txBox="1"/>
          <p:nvPr/>
        </p:nvSpPr>
        <p:spPr>
          <a:xfrm>
            <a:off x="548640" y="859536"/>
            <a:ext cx="11064240" cy="685800"/>
          </a:xfrm>
          <a:prstGeom prst="rect">
            <a:avLst/>
          </a:prstGeom>
          <a:noFill/>
        </p:spPr>
        <p:txBody>
          <a:bodyPr wrap="none" lIns="0" rIns="0" tIns="0" bIns="0">
            <a:spAutoFit/>
          </a:bodyPr>
          <a:lstStyle/>
          <a:p>
            <a:pPr>
              <a:lnSpc>
                <a:spcPct val="108000"/>
              </a:lnSpc>
              <a:spcAft>
                <a:spcPts val="0"/>
              </a:spcAft>
              <a:defRPr sz="3400" b="1">
                <a:solidFill>
                  <a:srgbClr val="192E30"/>
                </a:solidFill>
                <a:latin typeface="Arial"/>
              </a:defRPr>
            </a:pPr>
            <a:r>
              <a:t>Después: la información se conecta</a:t>
            </a:r>
          </a:p>
        </p:txBody>
      </p:sp>
      <p:sp>
        <p:nvSpPr>
          <p:cNvPr id="5" name="TextBox 4"/>
          <p:cNvSpPr txBox="1"/>
          <p:nvPr/>
        </p:nvSpPr>
        <p:spPr>
          <a:xfrm>
            <a:off x="548640" y="6464808"/>
            <a:ext cx="3657600" cy="210312"/>
          </a:xfrm>
          <a:prstGeom prst="rect">
            <a:avLst/>
          </a:prstGeom>
          <a:noFill/>
        </p:spPr>
        <p:txBody>
          <a:bodyPr wrap="none" lIns="0" rIns="0" tIns="0" bIns="0">
            <a:spAutoFit/>
          </a:bodyPr>
          <a:lstStyle/>
          <a:p>
            <a:pPr>
              <a:lnSpc>
                <a:spcPct val="108000"/>
              </a:lnSpc>
              <a:spcAft>
                <a:spcPts val="0"/>
              </a:spcAft>
              <a:defRPr sz="900" b="0">
                <a:solidFill>
                  <a:srgbClr val="64716C"/>
                </a:solidFill>
                <a:latin typeface="Arial"/>
              </a:defRPr>
            </a:pPr>
            <a:r>
              <a:t>Caso ficticio</a:t>
            </a:r>
          </a:p>
        </p:txBody>
      </p:sp>
      <p:sp>
        <p:nvSpPr>
          <p:cNvPr id="6" name="Rounded Rectangle 5"/>
          <p:cNvSpPr/>
          <p:nvPr/>
        </p:nvSpPr>
        <p:spPr>
          <a:xfrm>
            <a:off x="731520" y="2651760"/>
            <a:ext cx="2743200" cy="2029967"/>
          </a:xfrm>
          <a:prstGeom prst="roundRect">
            <a:avLst>
              <a:gd name="adj" fmla="val 13000"/>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70432" y="3035808"/>
            <a:ext cx="1865376" cy="438912"/>
          </a:xfrm>
          <a:prstGeom prst="rect">
            <a:avLst/>
          </a:pr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70432" y="3035808"/>
            <a:ext cx="153619" cy="43891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80413" y="3035808"/>
            <a:ext cx="153619" cy="43891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90395" y="3035808"/>
            <a:ext cx="153619" cy="43891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00376" y="3035808"/>
            <a:ext cx="153619" cy="43891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10358" y="3035808"/>
            <a:ext cx="153619" cy="43891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20340" y="3035808"/>
            <a:ext cx="153619" cy="43891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88136" y="3639312"/>
            <a:ext cx="1152144" cy="79552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87168" y="3611879"/>
            <a:ext cx="603504" cy="1069848"/>
          </a:xfrm>
          <a:prstGeom prst="rect">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1279600" y="3773906"/>
            <a:ext cx="658080" cy="631574"/>
          </a:xfrm>
          <a:custGeom>
            <a:avLst/>
            <a:gdLst/>
            <a:ahLst/>
            <a:cxnLst/>
            <a:rect l="l" t="t" r="r" b="b"/>
            <a:pathLst>
              <a:path w="720" h="691">
                <a:moveTo>
                  <a:pt x="65" y="115"/>
                </a:moveTo>
                <a:lnTo>
                  <a:pt x="245" y="0"/>
                </a:lnTo>
                <a:lnTo>
                  <a:pt x="310" y="57"/>
                </a:lnTo>
                <a:lnTo>
                  <a:pt x="410" y="57"/>
                </a:lnTo>
                <a:lnTo>
                  <a:pt x="475" y="0"/>
                </a:lnTo>
                <a:lnTo>
                  <a:pt x="655" y="115"/>
                </a:lnTo>
                <a:lnTo>
                  <a:pt x="720" y="266"/>
                </a:lnTo>
                <a:lnTo>
                  <a:pt x="569" y="331"/>
                </a:lnTo>
                <a:lnTo>
                  <a:pt x="526" y="237"/>
                </a:lnTo>
                <a:lnTo>
                  <a:pt x="526" y="691"/>
                </a:lnTo>
                <a:lnTo>
                  <a:pt x="194" y="691"/>
                </a:lnTo>
                <a:lnTo>
                  <a:pt x="194" y="237"/>
                </a:lnTo>
                <a:lnTo>
                  <a:pt x="151" y="331"/>
                </a:lnTo>
                <a:lnTo>
                  <a:pt x="0" y="266"/>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563258" y="3834627"/>
            <a:ext cx="92171"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663440" y="2331720"/>
            <a:ext cx="2971800" cy="256032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63440" y="2331720"/>
            <a:ext cx="2971800" cy="281635"/>
          </a:xfrm>
          <a:prstGeom prst="rect">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752594" y="2421331"/>
            <a:ext cx="41605" cy="41605"/>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35804" y="2421331"/>
            <a:ext cx="41605" cy="41605"/>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9014" y="2421331"/>
            <a:ext cx="41605" cy="41605"/>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797171" y="2792577"/>
            <a:ext cx="1099566" cy="1843430"/>
          </a:xfrm>
          <a:prstGeom prst="roundRect">
            <a:avLst>
              <a:gd name="adj" fmla="val 13000"/>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4884416" y="3082922"/>
            <a:ext cx="891150" cy="855504"/>
          </a:xfrm>
          <a:custGeom>
            <a:avLst/>
            <a:gdLst/>
            <a:ahLst/>
            <a:cxnLst/>
            <a:rect l="l" t="t" r="r" b="b"/>
            <a:pathLst>
              <a:path w="975" h="936">
                <a:moveTo>
                  <a:pt x="88" y="156"/>
                </a:moveTo>
                <a:lnTo>
                  <a:pt x="331" y="0"/>
                </a:lnTo>
                <a:lnTo>
                  <a:pt x="419" y="78"/>
                </a:lnTo>
                <a:lnTo>
                  <a:pt x="556" y="78"/>
                </a:lnTo>
                <a:lnTo>
                  <a:pt x="643" y="0"/>
                </a:lnTo>
                <a:lnTo>
                  <a:pt x="887" y="156"/>
                </a:lnTo>
                <a:lnTo>
                  <a:pt x="975" y="361"/>
                </a:lnTo>
                <a:lnTo>
                  <a:pt x="770" y="448"/>
                </a:lnTo>
                <a:lnTo>
                  <a:pt x="712" y="322"/>
                </a:lnTo>
                <a:lnTo>
                  <a:pt x="712" y="936"/>
                </a:lnTo>
                <a:lnTo>
                  <a:pt x="263" y="936"/>
                </a:lnTo>
                <a:lnTo>
                  <a:pt x="263" y="322"/>
                </a:lnTo>
                <a:lnTo>
                  <a:pt x="204" y="448"/>
                </a:lnTo>
                <a:lnTo>
                  <a:pt x="0" y="361"/>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5269687" y="3164509"/>
            <a:ext cx="124815"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089904" y="2818180"/>
            <a:ext cx="386334" cy="716889"/>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6116488" y="2906520"/>
            <a:ext cx="312588" cy="298878"/>
          </a:xfrm>
          <a:custGeom>
            <a:avLst/>
            <a:gdLst/>
            <a:ahLst/>
            <a:cxnLst/>
            <a:rect l="l" t="t" r="r" b="b"/>
            <a:pathLst>
              <a:path w="342" h="327">
                <a:moveTo>
                  <a:pt x="31" y="54"/>
                </a:moveTo>
                <a:lnTo>
                  <a:pt x="117" y="0"/>
                </a:lnTo>
                <a:lnTo>
                  <a:pt x="147" y="27"/>
                </a:lnTo>
                <a:lnTo>
                  <a:pt x="195" y="27"/>
                </a:lnTo>
                <a:lnTo>
                  <a:pt x="226" y="0"/>
                </a:lnTo>
                <a:lnTo>
                  <a:pt x="311" y="54"/>
                </a:lnTo>
                <a:lnTo>
                  <a:pt x="342" y="126"/>
                </a:lnTo>
                <a:lnTo>
                  <a:pt x="270" y="157"/>
                </a:lnTo>
                <a:lnTo>
                  <a:pt x="250" y="112"/>
                </a:lnTo>
                <a:lnTo>
                  <a:pt x="250" y="327"/>
                </a:lnTo>
                <a:lnTo>
                  <a:pt x="93" y="327"/>
                </a:lnTo>
                <a:lnTo>
                  <a:pt x="93" y="112"/>
                </a:lnTo>
                <a:lnTo>
                  <a:pt x="72" y="157"/>
                </a:lnTo>
                <a:lnTo>
                  <a:pt x="0" y="126"/>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6253798" y="2935555"/>
            <a:ext cx="43686"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565392" y="2818180"/>
            <a:ext cx="386334" cy="716889"/>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6591768" y="2906520"/>
            <a:ext cx="312588" cy="298878"/>
          </a:xfrm>
          <a:custGeom>
            <a:avLst/>
            <a:gdLst/>
            <a:ahLst/>
            <a:cxnLst/>
            <a:rect l="l" t="t" r="r" b="b"/>
            <a:pathLst>
              <a:path w="342" h="327">
                <a:moveTo>
                  <a:pt x="31" y="54"/>
                </a:moveTo>
                <a:lnTo>
                  <a:pt x="117" y="0"/>
                </a:lnTo>
                <a:lnTo>
                  <a:pt x="147" y="27"/>
                </a:lnTo>
                <a:lnTo>
                  <a:pt x="195" y="27"/>
                </a:lnTo>
                <a:lnTo>
                  <a:pt x="226" y="0"/>
                </a:lnTo>
                <a:lnTo>
                  <a:pt x="311" y="54"/>
                </a:lnTo>
                <a:lnTo>
                  <a:pt x="342" y="126"/>
                </a:lnTo>
                <a:lnTo>
                  <a:pt x="270" y="157"/>
                </a:lnTo>
                <a:lnTo>
                  <a:pt x="250" y="112"/>
                </a:lnTo>
                <a:lnTo>
                  <a:pt x="250" y="327"/>
                </a:lnTo>
                <a:lnTo>
                  <a:pt x="93" y="327"/>
                </a:lnTo>
                <a:lnTo>
                  <a:pt x="93" y="112"/>
                </a:lnTo>
                <a:lnTo>
                  <a:pt x="72" y="157"/>
                </a:lnTo>
                <a:lnTo>
                  <a:pt x="0" y="126"/>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6729286" y="2935555"/>
            <a:ext cx="43686"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040880" y="2818180"/>
            <a:ext cx="386334" cy="716889"/>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7067048" y="2906520"/>
            <a:ext cx="312588" cy="298878"/>
          </a:xfrm>
          <a:custGeom>
            <a:avLst/>
            <a:gdLst/>
            <a:ahLst/>
            <a:cxnLst/>
            <a:rect l="l" t="t" r="r" b="b"/>
            <a:pathLst>
              <a:path w="342" h="327">
                <a:moveTo>
                  <a:pt x="31" y="54"/>
                </a:moveTo>
                <a:lnTo>
                  <a:pt x="117" y="0"/>
                </a:lnTo>
                <a:lnTo>
                  <a:pt x="147" y="27"/>
                </a:lnTo>
                <a:lnTo>
                  <a:pt x="195" y="27"/>
                </a:lnTo>
                <a:lnTo>
                  <a:pt x="226" y="0"/>
                </a:lnTo>
                <a:lnTo>
                  <a:pt x="311" y="54"/>
                </a:lnTo>
                <a:lnTo>
                  <a:pt x="342" y="126"/>
                </a:lnTo>
                <a:lnTo>
                  <a:pt x="270" y="157"/>
                </a:lnTo>
                <a:lnTo>
                  <a:pt x="250" y="112"/>
                </a:lnTo>
                <a:lnTo>
                  <a:pt x="250" y="327"/>
                </a:lnTo>
                <a:lnTo>
                  <a:pt x="93" y="327"/>
                </a:lnTo>
                <a:lnTo>
                  <a:pt x="93" y="112"/>
                </a:lnTo>
                <a:lnTo>
                  <a:pt x="72" y="157"/>
                </a:lnTo>
                <a:lnTo>
                  <a:pt x="0" y="126"/>
                </a:lnTo>
                <a:close/>
              </a:path>
            </a:pathLst>
          </a:custGeom>
          <a:solidFill>
            <a:srgbClr val="64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7204774" y="2935555"/>
            <a:ext cx="43686"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089904" y="3714292"/>
            <a:ext cx="1188720" cy="69128"/>
          </a:xfrm>
          <a:prstGeom prst="rect">
            <a:avLst/>
          </a:prstGeom>
          <a:solidFill>
            <a:srgbClr val="D6D9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089904" y="3893515"/>
            <a:ext cx="832104" cy="69128"/>
          </a:xfrm>
          <a:prstGeom prst="rect">
            <a:avLst/>
          </a:prstGeom>
          <a:solidFill>
            <a:srgbClr val="D6D9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089904" y="4149547"/>
            <a:ext cx="193167" cy="204825"/>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9904" y="4187952"/>
            <a:ext cx="193167" cy="179222"/>
          </a:xfrm>
          <a:prstGeom prst="rect">
            <a:avLst/>
          </a:prstGeom>
          <a:noFill/>
        </p:spPr>
        <p:txBody>
          <a:bodyPr wrap="none" lIns="0" rIns="0" tIns="0" bIns="0">
            <a:spAutoFit/>
          </a:bodyPr>
          <a:lstStyle/>
          <a:p>
            <a:pPr algn="ctr">
              <a:lnSpc>
                <a:spcPct val="108000"/>
              </a:lnSpc>
              <a:spcAft>
                <a:spcPts val="0"/>
              </a:spcAft>
              <a:defRPr sz="700" b="1">
                <a:solidFill>
                  <a:srgbClr val="192E30"/>
                </a:solidFill>
                <a:latin typeface="Arial"/>
              </a:defRPr>
            </a:pPr>
            <a:r>
              <a:t>S</a:t>
            </a:r>
          </a:p>
        </p:txBody>
      </p:sp>
      <p:sp>
        <p:nvSpPr>
          <p:cNvPr id="39" name="Rectangle 38"/>
          <p:cNvSpPr/>
          <p:nvPr/>
        </p:nvSpPr>
        <p:spPr>
          <a:xfrm>
            <a:off x="6342506" y="4149547"/>
            <a:ext cx="193167" cy="204825"/>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42506" y="4187952"/>
            <a:ext cx="193167" cy="179222"/>
          </a:xfrm>
          <a:prstGeom prst="rect">
            <a:avLst/>
          </a:prstGeom>
          <a:noFill/>
        </p:spPr>
        <p:txBody>
          <a:bodyPr wrap="none" lIns="0" rIns="0" tIns="0" bIns="0">
            <a:spAutoFit/>
          </a:bodyPr>
          <a:lstStyle/>
          <a:p>
            <a:pPr algn="ctr">
              <a:lnSpc>
                <a:spcPct val="108000"/>
              </a:lnSpc>
              <a:spcAft>
                <a:spcPts val="0"/>
              </a:spcAft>
              <a:defRPr sz="700" b="1">
                <a:solidFill>
                  <a:srgbClr val="192E30"/>
                </a:solidFill>
                <a:latin typeface="Arial"/>
              </a:defRPr>
            </a:pPr>
            <a:r>
              <a:t>M</a:t>
            </a:r>
          </a:p>
        </p:txBody>
      </p:sp>
      <p:sp>
        <p:nvSpPr>
          <p:cNvPr id="41" name="Rectangle 40"/>
          <p:cNvSpPr/>
          <p:nvPr/>
        </p:nvSpPr>
        <p:spPr>
          <a:xfrm>
            <a:off x="6595110" y="4149547"/>
            <a:ext cx="193167" cy="204825"/>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95110" y="4187952"/>
            <a:ext cx="193167" cy="179222"/>
          </a:xfrm>
          <a:prstGeom prst="rect">
            <a:avLst/>
          </a:prstGeom>
          <a:noFill/>
        </p:spPr>
        <p:txBody>
          <a:bodyPr wrap="none" lIns="0" rIns="0" tIns="0" bIns="0">
            <a:spAutoFit/>
          </a:bodyPr>
          <a:lstStyle/>
          <a:p>
            <a:pPr algn="ctr">
              <a:lnSpc>
                <a:spcPct val="108000"/>
              </a:lnSpc>
              <a:spcAft>
                <a:spcPts val="0"/>
              </a:spcAft>
              <a:defRPr sz="700" b="1">
                <a:solidFill>
                  <a:srgbClr val="192E30"/>
                </a:solidFill>
                <a:latin typeface="Arial"/>
              </a:defRPr>
            </a:pPr>
            <a:r>
              <a:t>L</a:t>
            </a:r>
          </a:p>
        </p:txBody>
      </p:sp>
      <p:sp>
        <p:nvSpPr>
          <p:cNvPr id="43" name="Rounded Rectangle 42"/>
          <p:cNvSpPr/>
          <p:nvPr/>
        </p:nvSpPr>
        <p:spPr>
          <a:xfrm>
            <a:off x="6089904" y="4482388"/>
            <a:ext cx="1188720" cy="204825"/>
          </a:xfrm>
          <a:prstGeom prst="roundRect">
            <a:avLst>
              <a:gd name="adj" fmla="val 13000"/>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144000" y="2560320"/>
            <a:ext cx="2194560" cy="2560320"/>
          </a:xfrm>
          <a:prstGeom prst="roundRect">
            <a:avLst>
              <a:gd name="adj" fmla="val 13000"/>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400032" y="2834640"/>
            <a:ext cx="1673352" cy="384048"/>
          </a:xfrm>
          <a:prstGeom prst="rect">
            <a:avLst/>
          </a:pr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400032" y="3429000"/>
            <a:ext cx="1673352" cy="384048"/>
          </a:xfrm>
          <a:prstGeom prst="rect">
            <a:avLst/>
          </a:pr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400032" y="4023360"/>
            <a:ext cx="1673352" cy="384048"/>
          </a:xfrm>
          <a:prstGeom prst="rect">
            <a:avLst/>
          </a:pr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3611880" y="3566160"/>
            <a:ext cx="731520" cy="0"/>
          </a:xfrm>
          <a:prstGeom prst="line">
            <a:avLst/>
          </a:prstGeom>
          <a:ln w="38100">
            <a:solidFill>
              <a:srgbClr val="D65A3A"/>
            </a:solidFill>
          </a:ln>
        </p:spPr>
        <p:style>
          <a:lnRef idx="2">
            <a:schemeClr val="accent1"/>
          </a:lnRef>
          <a:fillRef idx="0">
            <a:schemeClr val="accent1"/>
          </a:fillRef>
          <a:effectRef idx="1">
            <a:schemeClr val="accent1"/>
          </a:effectRef>
          <a:fontRef idx="minor">
            <a:schemeClr val="tx1"/>
          </a:fontRef>
        </p:style>
      </p:cxnSp>
      <p:sp>
        <p:nvSpPr>
          <p:cNvPr id="49" name="Freeform 48"/>
          <p:cNvSpPr/>
          <p:nvPr/>
        </p:nvSpPr>
        <p:spPr>
          <a:xfrm>
            <a:off x="4158700" y="3445780"/>
            <a:ext cx="274200" cy="237640"/>
          </a:xfrm>
          <a:custGeom>
            <a:avLst/>
            <a:gdLst/>
            <a:ahLst/>
            <a:cxnLst/>
            <a:rect l="l" t="t" r="r" b="b"/>
            <a:pathLst>
              <a:path w="300" h="260">
                <a:moveTo>
                  <a:pt x="0" y="0"/>
                </a:moveTo>
                <a:lnTo>
                  <a:pt x="300" y="130"/>
                </a:lnTo>
                <a:lnTo>
                  <a:pt x="0" y="260"/>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a:off x="7882127" y="3566160"/>
            <a:ext cx="914401" cy="0"/>
          </a:xfrm>
          <a:prstGeom prst="line">
            <a:avLst/>
          </a:prstGeom>
          <a:ln w="38100">
            <a:solidFill>
              <a:srgbClr val="D65A3A"/>
            </a:solidFill>
          </a:ln>
        </p:spPr>
        <p:style>
          <a:lnRef idx="2">
            <a:schemeClr val="accent1"/>
          </a:lnRef>
          <a:fillRef idx="0">
            <a:schemeClr val="accent1"/>
          </a:fillRef>
          <a:effectRef idx="1">
            <a:schemeClr val="accent1"/>
          </a:effectRef>
          <a:fontRef idx="minor">
            <a:schemeClr val="tx1"/>
          </a:fontRef>
        </p:style>
      </p:cxnSp>
      <p:sp>
        <p:nvSpPr>
          <p:cNvPr id="51" name="Freeform 50"/>
          <p:cNvSpPr/>
          <p:nvPr/>
        </p:nvSpPr>
        <p:spPr>
          <a:xfrm>
            <a:off x="8609880" y="3445780"/>
            <a:ext cx="274200" cy="237640"/>
          </a:xfrm>
          <a:custGeom>
            <a:avLst/>
            <a:gdLst/>
            <a:ahLst/>
            <a:cxnLst/>
            <a:rect l="l" t="t" r="r" b="b"/>
            <a:pathLst>
              <a:path w="300" h="260">
                <a:moveTo>
                  <a:pt x="0" y="0"/>
                </a:moveTo>
                <a:lnTo>
                  <a:pt x="300" y="130"/>
                </a:lnTo>
                <a:lnTo>
                  <a:pt x="0" y="260"/>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1520" y="5440680"/>
            <a:ext cx="2743200" cy="411480"/>
          </a:xfrm>
          <a:prstGeom prst="rect">
            <a:avLst/>
          </a:prstGeom>
          <a:noFill/>
        </p:spPr>
        <p:txBody>
          <a:bodyPr wrap="none" lIns="0" rIns="0" tIns="0" bIns="0">
            <a:spAutoFit/>
          </a:bodyPr>
          <a:lstStyle/>
          <a:p>
            <a:pPr algn="ctr">
              <a:lnSpc>
                <a:spcPct val="108000"/>
              </a:lnSpc>
              <a:spcAft>
                <a:spcPts val="0"/>
              </a:spcAft>
              <a:defRPr sz="2200" b="1">
                <a:solidFill>
                  <a:srgbClr val="192E30"/>
                </a:solidFill>
                <a:latin typeface="Arial"/>
              </a:defRPr>
            </a:pPr>
            <a:r>
              <a:t>TIENDA</a:t>
            </a:r>
          </a:p>
        </p:txBody>
      </p:sp>
      <p:sp>
        <p:nvSpPr>
          <p:cNvPr id="53" name="TextBox 52"/>
          <p:cNvSpPr txBox="1"/>
          <p:nvPr/>
        </p:nvSpPr>
        <p:spPr>
          <a:xfrm>
            <a:off x="4709160" y="5440680"/>
            <a:ext cx="2926080" cy="411480"/>
          </a:xfrm>
          <a:prstGeom prst="rect">
            <a:avLst/>
          </a:prstGeom>
          <a:noFill/>
        </p:spPr>
        <p:txBody>
          <a:bodyPr wrap="none" lIns="0" rIns="0" tIns="0" bIns="0">
            <a:spAutoFit/>
          </a:bodyPr>
          <a:lstStyle/>
          <a:p>
            <a:pPr algn="ctr">
              <a:lnSpc>
                <a:spcPct val="108000"/>
              </a:lnSpc>
              <a:spcAft>
                <a:spcPts val="0"/>
              </a:spcAft>
              <a:defRPr sz="2200" b="1">
                <a:solidFill>
                  <a:srgbClr val="192E30"/>
                </a:solidFill>
                <a:latin typeface="Arial"/>
              </a:defRPr>
            </a:pPr>
            <a:r>
              <a:t>WEB</a:t>
            </a:r>
          </a:p>
        </p:txBody>
      </p:sp>
      <p:sp>
        <p:nvSpPr>
          <p:cNvPr id="54" name="TextBox 53"/>
          <p:cNvSpPr txBox="1"/>
          <p:nvPr/>
        </p:nvSpPr>
        <p:spPr>
          <a:xfrm>
            <a:off x="8915400" y="5440680"/>
            <a:ext cx="2651760" cy="411480"/>
          </a:xfrm>
          <a:prstGeom prst="rect">
            <a:avLst/>
          </a:prstGeom>
          <a:noFill/>
        </p:spPr>
        <p:txBody>
          <a:bodyPr wrap="none" lIns="0" rIns="0" tIns="0" bIns="0">
            <a:spAutoFit/>
          </a:bodyPr>
          <a:lstStyle/>
          <a:p>
            <a:pPr algn="ctr">
              <a:lnSpc>
                <a:spcPct val="108000"/>
              </a:lnSpc>
              <a:spcAft>
                <a:spcPts val="0"/>
              </a:spcAft>
              <a:defRPr sz="2200" b="1">
                <a:solidFill>
                  <a:srgbClr val="192E30"/>
                </a:solidFill>
                <a:latin typeface="Arial"/>
              </a:defRPr>
            </a:pPr>
            <a:r>
              <a:t>INVENTARIO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1E9"/>
        </a:solidFill>
        <a:effectLst/>
      </p:bgPr>
    </p:bg>
    <p:spTree>
      <p:nvGrpSpPr>
        <p:cNvPr id="1" name=""/>
        <p:cNvGrpSpPr/>
        <p:nvPr/>
      </p:nvGrpSpPr>
      <p:grpSpPr/>
      <p:sp>
        <p:nvSpPr>
          <p:cNvPr id="2" name="TextBox 1"/>
          <p:cNvSpPr txBox="1"/>
          <p:nvPr/>
        </p:nvSpPr>
        <p:spPr>
          <a:xfrm>
            <a:off x="548640" y="292608"/>
            <a:ext cx="4572000" cy="210312"/>
          </a:xfrm>
          <a:prstGeom prst="rect">
            <a:avLst/>
          </a:prstGeom>
          <a:noFill/>
        </p:spPr>
        <p:txBody>
          <a:bodyPr wrap="none" lIns="0" rIns="0" tIns="0" bIns="0">
            <a:spAutoFit/>
          </a:bodyPr>
          <a:lstStyle/>
          <a:p>
            <a:pPr>
              <a:lnSpc>
                <a:spcPct val="108000"/>
              </a:lnSpc>
              <a:spcAft>
                <a:spcPts val="0"/>
              </a:spcAft>
              <a:defRPr sz="1000" b="1">
                <a:solidFill>
                  <a:srgbClr val="64716C"/>
                </a:solidFill>
                <a:latin typeface="Arial"/>
              </a:defRPr>
            </a:pPr>
            <a:r>
              <a:t>MODA URBANA</a:t>
            </a:r>
          </a:p>
        </p:txBody>
      </p:sp>
      <p:sp>
        <p:nvSpPr>
          <p:cNvPr id="3" name="TextBox 2"/>
          <p:cNvSpPr txBox="1"/>
          <p:nvPr/>
        </p:nvSpPr>
        <p:spPr>
          <a:xfrm>
            <a:off x="11109960" y="292608"/>
            <a:ext cx="502920" cy="210312"/>
          </a:xfrm>
          <a:prstGeom prst="rect">
            <a:avLst/>
          </a:prstGeom>
          <a:noFill/>
        </p:spPr>
        <p:txBody>
          <a:bodyPr wrap="none" lIns="0" rIns="0" tIns="0" bIns="0">
            <a:spAutoFit/>
          </a:bodyPr>
          <a:lstStyle/>
          <a:p>
            <a:pPr algn="ctr">
              <a:lnSpc>
                <a:spcPct val="108000"/>
              </a:lnSpc>
              <a:spcAft>
                <a:spcPts val="0"/>
              </a:spcAft>
              <a:defRPr sz="1000" b="1">
                <a:solidFill>
                  <a:srgbClr val="64716C"/>
                </a:solidFill>
                <a:latin typeface="Arial"/>
              </a:defRPr>
            </a:pPr>
            <a:r>
              <a:t>05</a:t>
            </a:r>
          </a:p>
        </p:txBody>
      </p:sp>
      <p:sp>
        <p:nvSpPr>
          <p:cNvPr id="4" name="TextBox 3"/>
          <p:cNvSpPr txBox="1"/>
          <p:nvPr/>
        </p:nvSpPr>
        <p:spPr>
          <a:xfrm>
            <a:off x="548640" y="859536"/>
            <a:ext cx="11064240" cy="685800"/>
          </a:xfrm>
          <a:prstGeom prst="rect">
            <a:avLst/>
          </a:prstGeom>
          <a:noFill/>
        </p:spPr>
        <p:txBody>
          <a:bodyPr wrap="none" lIns="0" rIns="0" tIns="0" bIns="0">
            <a:spAutoFit/>
          </a:bodyPr>
          <a:lstStyle/>
          <a:p>
            <a:pPr>
              <a:lnSpc>
                <a:spcPct val="108000"/>
              </a:lnSpc>
              <a:spcAft>
                <a:spcPts val="0"/>
              </a:spcAft>
              <a:defRPr sz="3400" b="1">
                <a:solidFill>
                  <a:srgbClr val="192E30"/>
                </a:solidFill>
                <a:latin typeface="Arial"/>
              </a:defRPr>
            </a:pPr>
            <a:r>
              <a:t>La colección, desde casa</a:t>
            </a:r>
          </a:p>
        </p:txBody>
      </p:sp>
      <p:sp>
        <p:nvSpPr>
          <p:cNvPr id="5" name="TextBox 4"/>
          <p:cNvSpPr txBox="1"/>
          <p:nvPr/>
        </p:nvSpPr>
        <p:spPr>
          <a:xfrm>
            <a:off x="548640" y="6464808"/>
            <a:ext cx="3657600" cy="210312"/>
          </a:xfrm>
          <a:prstGeom prst="rect">
            <a:avLst/>
          </a:prstGeom>
          <a:noFill/>
        </p:spPr>
        <p:txBody>
          <a:bodyPr wrap="none" lIns="0" rIns="0" tIns="0" bIns="0">
            <a:spAutoFit/>
          </a:bodyPr>
          <a:lstStyle/>
          <a:p>
            <a:pPr>
              <a:lnSpc>
                <a:spcPct val="108000"/>
              </a:lnSpc>
              <a:spcAft>
                <a:spcPts val="0"/>
              </a:spcAft>
              <a:defRPr sz="900" b="0">
                <a:solidFill>
                  <a:srgbClr val="64716C"/>
                </a:solidFill>
                <a:latin typeface="Arial"/>
              </a:defRPr>
            </a:pPr>
            <a:r>
              <a:t>Caso ficticio</a:t>
            </a:r>
          </a:p>
        </p:txBody>
      </p:sp>
      <p:sp>
        <p:nvSpPr>
          <p:cNvPr id="6" name="Rounded Rectangle 5"/>
          <p:cNvSpPr/>
          <p:nvPr/>
        </p:nvSpPr>
        <p:spPr>
          <a:xfrm>
            <a:off x="731520" y="1892807"/>
            <a:ext cx="7040880" cy="4096512"/>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92807"/>
            <a:ext cx="7040880" cy="450616"/>
          </a:xfrm>
          <a:prstGeom prst="rect">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42746" y="2036185"/>
            <a:ext cx="98572" cy="98572"/>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9891" y="2036185"/>
            <a:ext cx="98572" cy="98572"/>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37035" y="2036185"/>
            <a:ext cx="98572" cy="98572"/>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48359" y="2630180"/>
            <a:ext cx="2605125" cy="2949488"/>
          </a:xfrm>
          <a:prstGeom prst="roundRect">
            <a:avLst>
              <a:gd name="adj" fmla="val 13000"/>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1259492" y="3123138"/>
            <a:ext cx="2111340" cy="2026338"/>
          </a:xfrm>
          <a:custGeom>
            <a:avLst/>
            <a:gdLst/>
            <a:ahLst/>
            <a:cxnLst/>
            <a:rect l="l" t="t" r="r" b="b"/>
            <a:pathLst>
              <a:path w="2310" h="2217">
                <a:moveTo>
                  <a:pt x="207" y="369"/>
                </a:moveTo>
                <a:lnTo>
                  <a:pt x="785" y="0"/>
                </a:lnTo>
                <a:lnTo>
                  <a:pt x="993" y="185"/>
                </a:lnTo>
                <a:lnTo>
                  <a:pt x="1316" y="185"/>
                </a:lnTo>
                <a:lnTo>
                  <a:pt x="1524" y="0"/>
                </a:lnTo>
                <a:lnTo>
                  <a:pt x="2102" y="369"/>
                </a:lnTo>
                <a:lnTo>
                  <a:pt x="2310" y="855"/>
                </a:lnTo>
                <a:lnTo>
                  <a:pt x="1824" y="1062"/>
                </a:lnTo>
                <a:lnTo>
                  <a:pt x="1686" y="762"/>
                </a:lnTo>
                <a:lnTo>
                  <a:pt x="1686" y="2217"/>
                </a:lnTo>
                <a:lnTo>
                  <a:pt x="623" y="2217"/>
                </a:lnTo>
                <a:lnTo>
                  <a:pt x="623" y="762"/>
                </a:lnTo>
                <a:lnTo>
                  <a:pt x="485" y="1062"/>
                </a:lnTo>
                <a:lnTo>
                  <a:pt x="0" y="855"/>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2167859" y="3314425"/>
            <a:ext cx="295717"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111142" y="2671145"/>
            <a:ext cx="915314" cy="1147023"/>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4179722" y="2822432"/>
            <a:ext cx="738512" cy="709264"/>
          </a:xfrm>
          <a:custGeom>
            <a:avLst/>
            <a:gdLst/>
            <a:ahLst/>
            <a:cxnLst/>
            <a:rect l="l" t="t" r="r" b="b"/>
            <a:pathLst>
              <a:path w="808" h="776">
                <a:moveTo>
                  <a:pt x="73" y="129"/>
                </a:moveTo>
                <a:lnTo>
                  <a:pt x="275" y="0"/>
                </a:lnTo>
                <a:lnTo>
                  <a:pt x="348" y="65"/>
                </a:lnTo>
                <a:lnTo>
                  <a:pt x="461" y="65"/>
                </a:lnTo>
                <a:lnTo>
                  <a:pt x="534" y="0"/>
                </a:lnTo>
                <a:lnTo>
                  <a:pt x="736" y="129"/>
                </a:lnTo>
                <a:lnTo>
                  <a:pt x="808" y="299"/>
                </a:lnTo>
                <a:lnTo>
                  <a:pt x="639" y="372"/>
                </a:lnTo>
                <a:lnTo>
                  <a:pt x="590" y="267"/>
                </a:lnTo>
                <a:lnTo>
                  <a:pt x="590" y="776"/>
                </a:lnTo>
                <a:lnTo>
                  <a:pt x="218" y="776"/>
                </a:lnTo>
                <a:lnTo>
                  <a:pt x="218" y="267"/>
                </a:lnTo>
                <a:lnTo>
                  <a:pt x="170" y="372"/>
                </a:lnTo>
                <a:lnTo>
                  <a:pt x="0" y="299"/>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4499446" y="2890148"/>
            <a:ext cx="103501"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237683" y="2671145"/>
            <a:ext cx="915314" cy="1147023"/>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5305770" y="2822432"/>
            <a:ext cx="739426" cy="709264"/>
          </a:xfrm>
          <a:custGeom>
            <a:avLst/>
            <a:gdLst/>
            <a:ahLst/>
            <a:cxnLst/>
            <a:rect l="l" t="t" r="r" b="b"/>
            <a:pathLst>
              <a:path w="809" h="776">
                <a:moveTo>
                  <a:pt x="73" y="129"/>
                </a:moveTo>
                <a:lnTo>
                  <a:pt x="275" y="0"/>
                </a:lnTo>
                <a:lnTo>
                  <a:pt x="348" y="65"/>
                </a:lnTo>
                <a:lnTo>
                  <a:pt x="461" y="65"/>
                </a:lnTo>
                <a:lnTo>
                  <a:pt x="534" y="0"/>
                </a:lnTo>
                <a:lnTo>
                  <a:pt x="736" y="129"/>
                </a:lnTo>
                <a:lnTo>
                  <a:pt x="809" y="299"/>
                </a:lnTo>
                <a:lnTo>
                  <a:pt x="639" y="372"/>
                </a:lnTo>
                <a:lnTo>
                  <a:pt x="590" y="267"/>
                </a:lnTo>
                <a:lnTo>
                  <a:pt x="590" y="776"/>
                </a:lnTo>
                <a:lnTo>
                  <a:pt x="218" y="776"/>
                </a:lnTo>
                <a:lnTo>
                  <a:pt x="218" y="267"/>
                </a:lnTo>
                <a:lnTo>
                  <a:pt x="170" y="372"/>
                </a:lnTo>
                <a:lnTo>
                  <a:pt x="0" y="299"/>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5625987" y="2890148"/>
            <a:ext cx="103501"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364223" y="2671145"/>
            <a:ext cx="915314" cy="1147023"/>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6431818" y="2822432"/>
            <a:ext cx="738512" cy="709264"/>
          </a:xfrm>
          <a:custGeom>
            <a:avLst/>
            <a:gdLst/>
            <a:ahLst/>
            <a:cxnLst/>
            <a:rect l="l" t="t" r="r" b="b"/>
            <a:pathLst>
              <a:path w="808" h="776">
                <a:moveTo>
                  <a:pt x="73" y="129"/>
                </a:moveTo>
                <a:lnTo>
                  <a:pt x="275" y="0"/>
                </a:lnTo>
                <a:lnTo>
                  <a:pt x="348" y="65"/>
                </a:lnTo>
                <a:lnTo>
                  <a:pt x="461" y="65"/>
                </a:lnTo>
                <a:lnTo>
                  <a:pt x="534" y="0"/>
                </a:lnTo>
                <a:lnTo>
                  <a:pt x="736" y="129"/>
                </a:lnTo>
                <a:lnTo>
                  <a:pt x="808" y="299"/>
                </a:lnTo>
                <a:lnTo>
                  <a:pt x="639" y="372"/>
                </a:lnTo>
                <a:lnTo>
                  <a:pt x="590" y="267"/>
                </a:lnTo>
                <a:lnTo>
                  <a:pt x="590" y="776"/>
                </a:lnTo>
                <a:lnTo>
                  <a:pt x="218" y="776"/>
                </a:lnTo>
                <a:lnTo>
                  <a:pt x="218" y="267"/>
                </a:lnTo>
                <a:lnTo>
                  <a:pt x="170" y="372"/>
                </a:lnTo>
                <a:lnTo>
                  <a:pt x="0" y="299"/>
                </a:lnTo>
                <a:close/>
              </a:path>
            </a:pathLst>
          </a:custGeom>
          <a:solidFill>
            <a:srgbClr val="64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6752528" y="2890148"/>
            <a:ext cx="103501"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4111142" y="4104924"/>
            <a:ext cx="2816352" cy="110605"/>
          </a:xfrm>
          <a:prstGeom prst="rect">
            <a:avLst/>
          </a:prstGeom>
          <a:solidFill>
            <a:srgbClr val="D6D9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1142" y="4391680"/>
            <a:ext cx="1971446" cy="110605"/>
          </a:xfrm>
          <a:prstGeom prst="rect">
            <a:avLst/>
          </a:prstGeom>
          <a:solidFill>
            <a:srgbClr val="D6D9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1142" y="4801331"/>
            <a:ext cx="457657" cy="327720"/>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1142" y="4862779"/>
            <a:ext cx="457657" cy="286755"/>
          </a:xfrm>
          <a:prstGeom prst="rect">
            <a:avLst/>
          </a:prstGeom>
          <a:noFill/>
        </p:spPr>
        <p:txBody>
          <a:bodyPr wrap="none" lIns="0" rIns="0" tIns="0" bIns="0">
            <a:spAutoFit/>
          </a:bodyPr>
          <a:lstStyle/>
          <a:p>
            <a:pPr algn="ctr">
              <a:lnSpc>
                <a:spcPct val="108000"/>
              </a:lnSpc>
              <a:spcAft>
                <a:spcPts val="0"/>
              </a:spcAft>
              <a:defRPr sz="1000" b="1">
                <a:solidFill>
                  <a:srgbClr val="192E30"/>
                </a:solidFill>
                <a:latin typeface="Arial"/>
              </a:defRPr>
            </a:pPr>
            <a:r>
              <a:t>S</a:t>
            </a:r>
          </a:p>
        </p:txBody>
      </p:sp>
      <p:sp>
        <p:nvSpPr>
          <p:cNvPr id="27" name="Rectangle 26"/>
          <p:cNvSpPr/>
          <p:nvPr/>
        </p:nvSpPr>
        <p:spPr>
          <a:xfrm>
            <a:off x="4709617" y="4801331"/>
            <a:ext cx="457657" cy="327720"/>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9617" y="4862779"/>
            <a:ext cx="457657" cy="286755"/>
          </a:xfrm>
          <a:prstGeom prst="rect">
            <a:avLst/>
          </a:prstGeom>
          <a:noFill/>
        </p:spPr>
        <p:txBody>
          <a:bodyPr wrap="none" lIns="0" rIns="0" tIns="0" bIns="0">
            <a:spAutoFit/>
          </a:bodyPr>
          <a:lstStyle/>
          <a:p>
            <a:pPr algn="ctr">
              <a:lnSpc>
                <a:spcPct val="108000"/>
              </a:lnSpc>
              <a:spcAft>
                <a:spcPts val="0"/>
              </a:spcAft>
              <a:defRPr sz="1000" b="1">
                <a:solidFill>
                  <a:srgbClr val="192E30"/>
                </a:solidFill>
                <a:latin typeface="Arial"/>
              </a:defRPr>
            </a:pPr>
            <a:r>
              <a:t>M</a:t>
            </a:r>
          </a:p>
        </p:txBody>
      </p:sp>
      <p:sp>
        <p:nvSpPr>
          <p:cNvPr id="29" name="Rectangle 28"/>
          <p:cNvSpPr/>
          <p:nvPr/>
        </p:nvSpPr>
        <p:spPr>
          <a:xfrm>
            <a:off x="5308092" y="4801331"/>
            <a:ext cx="457657" cy="327720"/>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8092" y="4862779"/>
            <a:ext cx="457657" cy="286755"/>
          </a:xfrm>
          <a:prstGeom prst="rect">
            <a:avLst/>
          </a:prstGeom>
          <a:noFill/>
        </p:spPr>
        <p:txBody>
          <a:bodyPr wrap="none" lIns="0" rIns="0" tIns="0" bIns="0">
            <a:spAutoFit/>
          </a:bodyPr>
          <a:lstStyle/>
          <a:p>
            <a:pPr algn="ctr">
              <a:lnSpc>
                <a:spcPct val="108000"/>
              </a:lnSpc>
              <a:spcAft>
                <a:spcPts val="0"/>
              </a:spcAft>
              <a:defRPr sz="1000" b="1">
                <a:solidFill>
                  <a:srgbClr val="192E30"/>
                </a:solidFill>
                <a:latin typeface="Arial"/>
              </a:defRPr>
            </a:pPr>
            <a:r>
              <a:t>L</a:t>
            </a:r>
          </a:p>
        </p:txBody>
      </p:sp>
      <p:sp>
        <p:nvSpPr>
          <p:cNvPr id="31" name="Rounded Rectangle 30"/>
          <p:cNvSpPr/>
          <p:nvPr/>
        </p:nvSpPr>
        <p:spPr>
          <a:xfrm>
            <a:off x="4111142" y="5333878"/>
            <a:ext cx="2816352" cy="327720"/>
          </a:xfrm>
          <a:prstGeom prst="roundRect">
            <a:avLst>
              <a:gd name="adj" fmla="val 13000"/>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66760" y="2331720"/>
            <a:ext cx="3017520" cy="548640"/>
          </a:xfrm>
          <a:prstGeom prst="rect">
            <a:avLst/>
          </a:prstGeom>
          <a:noFill/>
        </p:spPr>
        <p:txBody>
          <a:bodyPr wrap="none" lIns="0" rIns="0" tIns="0" bIns="0">
            <a:spAutoFit/>
          </a:bodyPr>
          <a:lstStyle/>
          <a:p>
            <a:pPr>
              <a:lnSpc>
                <a:spcPct val="108000"/>
              </a:lnSpc>
              <a:spcAft>
                <a:spcPts val="0"/>
              </a:spcAft>
              <a:defRPr sz="3000" b="1">
                <a:solidFill>
                  <a:srgbClr val="34675C"/>
                </a:solidFill>
                <a:latin typeface="Arial"/>
              </a:defRPr>
            </a:pPr>
            <a:r>
              <a:t>VER</a:t>
            </a:r>
          </a:p>
        </p:txBody>
      </p:sp>
      <p:sp>
        <p:nvSpPr>
          <p:cNvPr id="33" name="TextBox 32"/>
          <p:cNvSpPr txBox="1"/>
          <p:nvPr/>
        </p:nvSpPr>
        <p:spPr>
          <a:xfrm>
            <a:off x="8366760" y="3337560"/>
            <a:ext cx="3017520" cy="548640"/>
          </a:xfrm>
          <a:prstGeom prst="rect">
            <a:avLst/>
          </a:prstGeom>
          <a:noFill/>
        </p:spPr>
        <p:txBody>
          <a:bodyPr wrap="none" lIns="0" rIns="0" tIns="0" bIns="0">
            <a:spAutoFit/>
          </a:bodyPr>
          <a:lstStyle/>
          <a:p>
            <a:pPr>
              <a:lnSpc>
                <a:spcPct val="108000"/>
              </a:lnSpc>
              <a:spcAft>
                <a:spcPts val="0"/>
              </a:spcAft>
              <a:defRPr sz="3000" b="1">
                <a:solidFill>
                  <a:srgbClr val="34675C"/>
                </a:solidFill>
                <a:latin typeface="Arial"/>
              </a:defRPr>
            </a:pPr>
            <a:r>
              <a:t>ELEGIR</a:t>
            </a:r>
          </a:p>
        </p:txBody>
      </p:sp>
      <p:sp>
        <p:nvSpPr>
          <p:cNvPr id="34" name="TextBox 33"/>
          <p:cNvSpPr txBox="1"/>
          <p:nvPr/>
        </p:nvSpPr>
        <p:spPr>
          <a:xfrm>
            <a:off x="8366760" y="4343400"/>
            <a:ext cx="3017520" cy="548640"/>
          </a:xfrm>
          <a:prstGeom prst="rect">
            <a:avLst/>
          </a:prstGeom>
          <a:noFill/>
        </p:spPr>
        <p:txBody>
          <a:bodyPr wrap="none" lIns="0" rIns="0" tIns="0" bIns="0">
            <a:spAutoFit/>
          </a:bodyPr>
          <a:lstStyle/>
          <a:p>
            <a:pPr>
              <a:lnSpc>
                <a:spcPct val="108000"/>
              </a:lnSpc>
              <a:spcAft>
                <a:spcPts val="0"/>
              </a:spcAft>
              <a:defRPr sz="3000" b="1">
                <a:solidFill>
                  <a:srgbClr val="D65A3A"/>
                </a:solidFill>
                <a:latin typeface="Arial"/>
              </a:defRPr>
            </a:pPr>
            <a:r>
              <a:t>PEDIR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1E9"/>
        </a:solidFill>
        <a:effectLst/>
      </p:bgPr>
    </p:bg>
    <p:spTree>
      <p:nvGrpSpPr>
        <p:cNvPr id="1" name=""/>
        <p:cNvGrpSpPr/>
        <p:nvPr/>
      </p:nvGrpSpPr>
      <p:grpSpPr/>
      <p:sp>
        <p:nvSpPr>
          <p:cNvPr id="2" name="TextBox 1"/>
          <p:cNvSpPr txBox="1"/>
          <p:nvPr/>
        </p:nvSpPr>
        <p:spPr>
          <a:xfrm>
            <a:off x="548640" y="292608"/>
            <a:ext cx="4572000" cy="210312"/>
          </a:xfrm>
          <a:prstGeom prst="rect">
            <a:avLst/>
          </a:prstGeom>
          <a:noFill/>
        </p:spPr>
        <p:txBody>
          <a:bodyPr wrap="none" lIns="0" rIns="0" tIns="0" bIns="0">
            <a:spAutoFit/>
          </a:bodyPr>
          <a:lstStyle/>
          <a:p>
            <a:pPr>
              <a:lnSpc>
                <a:spcPct val="108000"/>
              </a:lnSpc>
              <a:spcAft>
                <a:spcPts val="0"/>
              </a:spcAft>
              <a:defRPr sz="1000" b="1">
                <a:solidFill>
                  <a:srgbClr val="64716C"/>
                </a:solidFill>
                <a:latin typeface="Arial"/>
              </a:defRPr>
            </a:pPr>
            <a:r>
              <a:t>MODA URBANA</a:t>
            </a:r>
          </a:p>
        </p:txBody>
      </p:sp>
      <p:sp>
        <p:nvSpPr>
          <p:cNvPr id="3" name="TextBox 2"/>
          <p:cNvSpPr txBox="1"/>
          <p:nvPr/>
        </p:nvSpPr>
        <p:spPr>
          <a:xfrm>
            <a:off x="11109960" y="292608"/>
            <a:ext cx="502920" cy="210312"/>
          </a:xfrm>
          <a:prstGeom prst="rect">
            <a:avLst/>
          </a:prstGeom>
          <a:noFill/>
        </p:spPr>
        <p:txBody>
          <a:bodyPr wrap="none" lIns="0" rIns="0" tIns="0" bIns="0">
            <a:spAutoFit/>
          </a:bodyPr>
          <a:lstStyle/>
          <a:p>
            <a:pPr algn="ctr">
              <a:lnSpc>
                <a:spcPct val="108000"/>
              </a:lnSpc>
              <a:spcAft>
                <a:spcPts val="0"/>
              </a:spcAft>
              <a:defRPr sz="1000" b="1">
                <a:solidFill>
                  <a:srgbClr val="64716C"/>
                </a:solidFill>
                <a:latin typeface="Arial"/>
              </a:defRPr>
            </a:pPr>
            <a:r>
              <a:t>06</a:t>
            </a:r>
          </a:p>
        </p:txBody>
      </p:sp>
      <p:sp>
        <p:nvSpPr>
          <p:cNvPr id="4" name="TextBox 3"/>
          <p:cNvSpPr txBox="1"/>
          <p:nvPr/>
        </p:nvSpPr>
        <p:spPr>
          <a:xfrm>
            <a:off x="548640" y="859536"/>
            <a:ext cx="11064240" cy="685800"/>
          </a:xfrm>
          <a:prstGeom prst="rect">
            <a:avLst/>
          </a:prstGeom>
          <a:noFill/>
        </p:spPr>
        <p:txBody>
          <a:bodyPr wrap="none" lIns="0" rIns="0" tIns="0" bIns="0">
            <a:spAutoFit/>
          </a:bodyPr>
          <a:lstStyle/>
          <a:p>
            <a:pPr>
              <a:lnSpc>
                <a:spcPct val="108000"/>
              </a:lnSpc>
              <a:spcAft>
                <a:spcPts val="0"/>
              </a:spcAft>
              <a:defRPr sz="3400" b="1">
                <a:solidFill>
                  <a:srgbClr val="192E30"/>
                </a:solidFill>
                <a:latin typeface="Arial"/>
              </a:defRPr>
            </a:pPr>
            <a:r>
              <a:t>Saber qué queda</a:t>
            </a:r>
          </a:p>
        </p:txBody>
      </p:sp>
      <p:sp>
        <p:nvSpPr>
          <p:cNvPr id="5" name="TextBox 4"/>
          <p:cNvSpPr txBox="1"/>
          <p:nvPr/>
        </p:nvSpPr>
        <p:spPr>
          <a:xfrm>
            <a:off x="548640" y="6464808"/>
            <a:ext cx="3657600" cy="210312"/>
          </a:xfrm>
          <a:prstGeom prst="rect">
            <a:avLst/>
          </a:prstGeom>
          <a:noFill/>
        </p:spPr>
        <p:txBody>
          <a:bodyPr wrap="none" lIns="0" rIns="0" tIns="0" bIns="0">
            <a:spAutoFit/>
          </a:bodyPr>
          <a:lstStyle/>
          <a:p>
            <a:pPr>
              <a:lnSpc>
                <a:spcPct val="108000"/>
              </a:lnSpc>
              <a:spcAft>
                <a:spcPts val="0"/>
              </a:spcAft>
              <a:defRPr sz="900" b="0">
                <a:solidFill>
                  <a:srgbClr val="64716C"/>
                </a:solidFill>
                <a:latin typeface="Arial"/>
              </a:defRPr>
            </a:pPr>
            <a:r>
              <a:t>Caso ficticio</a:t>
            </a:r>
          </a:p>
        </p:txBody>
      </p:sp>
      <p:sp>
        <p:nvSpPr>
          <p:cNvPr id="6" name="Rounded Rectangle 5"/>
          <p:cNvSpPr/>
          <p:nvPr/>
        </p:nvSpPr>
        <p:spPr>
          <a:xfrm>
            <a:off x="822960" y="1892807"/>
            <a:ext cx="1280160" cy="338328"/>
          </a:xfrm>
          <a:prstGeom prst="roundRect">
            <a:avLst>
              <a:gd name="adj" fmla="val 13000"/>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43100"/>
            <a:ext cx="1133856" cy="228600"/>
          </a:xfrm>
          <a:prstGeom prst="rect">
            <a:avLst/>
          </a:prstGeom>
          <a:noFill/>
        </p:spPr>
        <p:txBody>
          <a:bodyPr wrap="none" lIns="0" rIns="0" tIns="0" bIns="0">
            <a:spAutoFit/>
          </a:bodyPr>
          <a:lstStyle/>
          <a:p>
            <a:pPr algn="ctr">
              <a:lnSpc>
                <a:spcPct val="108000"/>
              </a:lnSpc>
              <a:spcAft>
                <a:spcPts val="0"/>
              </a:spcAft>
              <a:defRPr sz="1200" b="1">
                <a:solidFill>
                  <a:srgbClr val="FFFFFF"/>
                </a:solidFill>
                <a:latin typeface="Arial"/>
              </a:defRPr>
            </a:pPr>
            <a:r>
              <a:t>ANTES</a:t>
            </a:r>
          </a:p>
        </p:txBody>
      </p:sp>
      <p:sp>
        <p:nvSpPr>
          <p:cNvPr id="8" name="Rounded Rectangle 7"/>
          <p:cNvSpPr/>
          <p:nvPr/>
        </p:nvSpPr>
        <p:spPr>
          <a:xfrm>
            <a:off x="960120" y="2514600"/>
            <a:ext cx="2743200" cy="2670048"/>
          </a:xfrm>
          <a:prstGeom prst="roundRect">
            <a:avLst>
              <a:gd name="adj" fmla="val 13000"/>
            </a:avLst>
          </a:prstGeom>
          <a:solidFill>
            <a:srgbClr val="E8DA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88136" y="2624328"/>
            <a:ext cx="2514600" cy="2468879"/>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23544" y="2880360"/>
            <a:ext cx="109728" cy="109728"/>
          </a:xfrm>
          <a:prstGeom prst="ellipse">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23544" y="3392424"/>
            <a:ext cx="109728" cy="109728"/>
          </a:xfrm>
          <a:prstGeom prst="ellipse">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23544" y="3904487"/>
            <a:ext cx="109728" cy="109728"/>
          </a:xfrm>
          <a:prstGeom prst="ellipse">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23544" y="4416552"/>
            <a:ext cx="109728" cy="109728"/>
          </a:xfrm>
          <a:prstGeom prst="ellipse">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463040" y="3017520"/>
            <a:ext cx="1920239" cy="0"/>
          </a:xfrm>
          <a:prstGeom prst="line">
            <a:avLst/>
          </a:prstGeom>
          <a:ln w="25400">
            <a:solidFill>
              <a:srgbClr val="D6D9C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463040" y="3474720"/>
            <a:ext cx="1920239" cy="0"/>
          </a:xfrm>
          <a:prstGeom prst="line">
            <a:avLst/>
          </a:prstGeom>
          <a:ln w="25400">
            <a:solidFill>
              <a:srgbClr val="D6D9C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463040" y="3931920"/>
            <a:ext cx="1920239" cy="0"/>
          </a:xfrm>
          <a:prstGeom prst="line">
            <a:avLst/>
          </a:prstGeom>
          <a:ln w="25400">
            <a:solidFill>
              <a:srgbClr val="D6D9C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463040" y="4389120"/>
            <a:ext cx="1920239" cy="0"/>
          </a:xfrm>
          <a:prstGeom prst="line">
            <a:avLst/>
          </a:prstGeom>
          <a:ln w="25400">
            <a:solidFill>
              <a:srgbClr val="D6D9C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600200" y="3456432"/>
            <a:ext cx="0" cy="356616"/>
          </a:xfrm>
          <a:prstGeom prst="line">
            <a:avLst/>
          </a:prstGeom>
          <a:ln w="25400">
            <a:solidFill>
              <a:srgbClr val="D65A3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801368" y="3456432"/>
            <a:ext cx="0" cy="356616"/>
          </a:xfrm>
          <a:prstGeom prst="line">
            <a:avLst/>
          </a:prstGeom>
          <a:ln w="25400">
            <a:solidFill>
              <a:srgbClr val="D65A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002536" y="3456432"/>
            <a:ext cx="0" cy="356616"/>
          </a:xfrm>
          <a:prstGeom prst="line">
            <a:avLst/>
          </a:prstGeom>
          <a:ln w="25400">
            <a:solidFill>
              <a:srgbClr val="D65A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545336" y="3465576"/>
            <a:ext cx="658368" cy="320039"/>
          </a:xfrm>
          <a:prstGeom prst="line">
            <a:avLst/>
          </a:prstGeom>
          <a:ln w="25400">
            <a:solidFill>
              <a:srgbClr val="D65A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297680" y="3703320"/>
            <a:ext cx="960120" cy="0"/>
          </a:xfrm>
          <a:prstGeom prst="line">
            <a:avLst/>
          </a:prstGeom>
          <a:ln w="38100">
            <a:solidFill>
              <a:srgbClr val="D65A3A"/>
            </a:solidFill>
          </a:ln>
        </p:spPr>
        <p:style>
          <a:lnRef idx="2">
            <a:schemeClr val="accent1"/>
          </a:lnRef>
          <a:fillRef idx="0">
            <a:schemeClr val="accent1"/>
          </a:fillRef>
          <a:effectRef idx="1">
            <a:schemeClr val="accent1"/>
          </a:effectRef>
          <a:fontRef idx="minor">
            <a:schemeClr val="tx1"/>
          </a:fontRef>
        </p:style>
      </p:cxnSp>
      <p:sp>
        <p:nvSpPr>
          <p:cNvPr id="23" name="Freeform 22"/>
          <p:cNvSpPr/>
          <p:nvPr/>
        </p:nvSpPr>
        <p:spPr>
          <a:xfrm>
            <a:off x="5072700" y="3582880"/>
            <a:ext cx="274200" cy="237640"/>
          </a:xfrm>
          <a:custGeom>
            <a:avLst/>
            <a:gdLst/>
            <a:ahLst/>
            <a:cxnLst/>
            <a:rect l="l" t="t" r="r" b="b"/>
            <a:pathLst>
              <a:path w="300" h="260">
                <a:moveTo>
                  <a:pt x="0" y="0"/>
                </a:moveTo>
                <a:lnTo>
                  <a:pt x="300" y="130"/>
                </a:lnTo>
                <a:lnTo>
                  <a:pt x="0" y="260"/>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897880" y="1892807"/>
            <a:ext cx="1463040" cy="338328"/>
          </a:xfrm>
          <a:prstGeom prst="roundRect">
            <a:avLst>
              <a:gd name="adj" fmla="val 13000"/>
            </a:avLst>
          </a:pr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71032" y="1943100"/>
            <a:ext cx="1316736" cy="228600"/>
          </a:xfrm>
          <a:prstGeom prst="rect">
            <a:avLst/>
          </a:prstGeom>
          <a:noFill/>
        </p:spPr>
        <p:txBody>
          <a:bodyPr wrap="none" lIns="0" rIns="0" tIns="0" bIns="0">
            <a:spAutoFit/>
          </a:bodyPr>
          <a:lstStyle/>
          <a:p>
            <a:pPr algn="ctr">
              <a:lnSpc>
                <a:spcPct val="108000"/>
              </a:lnSpc>
              <a:spcAft>
                <a:spcPts val="0"/>
              </a:spcAft>
              <a:defRPr sz="1200" b="1">
                <a:solidFill>
                  <a:srgbClr val="FFFFFF"/>
                </a:solidFill>
                <a:latin typeface="Arial"/>
              </a:defRPr>
            </a:pPr>
            <a:r>
              <a:t>DESPUÉS</a:t>
            </a:r>
          </a:p>
        </p:txBody>
      </p:sp>
      <p:sp>
        <p:nvSpPr>
          <p:cNvPr id="26" name="Rounded Rectangle 25"/>
          <p:cNvSpPr/>
          <p:nvPr/>
        </p:nvSpPr>
        <p:spPr>
          <a:xfrm>
            <a:off x="5897880" y="2514600"/>
            <a:ext cx="5257800" cy="2670048"/>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6196920" y="3016200"/>
            <a:ext cx="1142500" cy="1096800"/>
          </a:xfrm>
          <a:custGeom>
            <a:avLst/>
            <a:gdLst/>
            <a:ahLst/>
            <a:cxnLst/>
            <a:rect l="l" t="t" r="r" b="b"/>
            <a:pathLst>
              <a:path w="1250" h="1200">
                <a:moveTo>
                  <a:pt x="112" y="200"/>
                </a:moveTo>
                <a:lnTo>
                  <a:pt x="425" y="0"/>
                </a:lnTo>
                <a:lnTo>
                  <a:pt x="538" y="100"/>
                </a:lnTo>
                <a:lnTo>
                  <a:pt x="712" y="100"/>
                </a:lnTo>
                <a:lnTo>
                  <a:pt x="825" y="0"/>
                </a:lnTo>
                <a:lnTo>
                  <a:pt x="1138" y="200"/>
                </a:lnTo>
                <a:lnTo>
                  <a:pt x="1250" y="462"/>
                </a:lnTo>
                <a:lnTo>
                  <a:pt x="988" y="575"/>
                </a:lnTo>
                <a:lnTo>
                  <a:pt x="912" y="412"/>
                </a:lnTo>
                <a:lnTo>
                  <a:pt x="912" y="1200"/>
                </a:lnTo>
                <a:lnTo>
                  <a:pt x="338" y="1200"/>
                </a:lnTo>
                <a:lnTo>
                  <a:pt x="338" y="412"/>
                </a:lnTo>
                <a:lnTo>
                  <a:pt x="262" y="575"/>
                </a:lnTo>
                <a:lnTo>
                  <a:pt x="0" y="462"/>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6691122" y="3120390"/>
            <a:ext cx="160020"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818120" y="2971800"/>
            <a:ext cx="777240" cy="457200"/>
          </a:xfrm>
          <a:prstGeom prst="rect">
            <a:avLst/>
          </a:prstGeom>
          <a:noFill/>
        </p:spPr>
        <p:txBody>
          <a:bodyPr wrap="none" lIns="0" rIns="0" tIns="0" bIns="0">
            <a:spAutoFit/>
          </a:bodyPr>
          <a:lstStyle/>
          <a:p>
            <a:pPr algn="ctr">
              <a:lnSpc>
                <a:spcPct val="108000"/>
              </a:lnSpc>
              <a:spcAft>
                <a:spcPts val="0"/>
              </a:spcAft>
              <a:defRPr sz="2700" b="1">
                <a:solidFill>
                  <a:srgbClr val="64716C"/>
                </a:solidFill>
                <a:latin typeface="Arial"/>
              </a:defRPr>
            </a:pPr>
            <a:r>
              <a:t>S</a:t>
            </a:r>
          </a:p>
        </p:txBody>
      </p:sp>
      <p:sp>
        <p:nvSpPr>
          <p:cNvPr id="30" name="TextBox 29"/>
          <p:cNvSpPr txBox="1"/>
          <p:nvPr/>
        </p:nvSpPr>
        <p:spPr>
          <a:xfrm>
            <a:off x="7818120" y="3749039"/>
            <a:ext cx="777240" cy="640080"/>
          </a:xfrm>
          <a:prstGeom prst="rect">
            <a:avLst/>
          </a:prstGeom>
          <a:noFill/>
        </p:spPr>
        <p:txBody>
          <a:bodyPr wrap="none" lIns="0" rIns="0" tIns="0" bIns="0">
            <a:spAutoFit/>
          </a:bodyPr>
          <a:lstStyle/>
          <a:p>
            <a:pPr algn="ctr">
              <a:lnSpc>
                <a:spcPct val="108000"/>
              </a:lnSpc>
              <a:spcAft>
                <a:spcPts val="0"/>
              </a:spcAft>
              <a:defRPr sz="4200" b="1">
                <a:solidFill>
                  <a:srgbClr val="34675C"/>
                </a:solidFill>
                <a:latin typeface="Arial"/>
              </a:defRPr>
            </a:pPr>
            <a:r>
              <a:t>3</a:t>
            </a:r>
          </a:p>
        </p:txBody>
      </p:sp>
      <p:sp>
        <p:nvSpPr>
          <p:cNvPr id="31" name="TextBox 30"/>
          <p:cNvSpPr txBox="1"/>
          <p:nvPr/>
        </p:nvSpPr>
        <p:spPr>
          <a:xfrm>
            <a:off x="8823960" y="2971800"/>
            <a:ext cx="777240" cy="457200"/>
          </a:xfrm>
          <a:prstGeom prst="rect">
            <a:avLst/>
          </a:prstGeom>
          <a:noFill/>
        </p:spPr>
        <p:txBody>
          <a:bodyPr wrap="none" lIns="0" rIns="0" tIns="0" bIns="0">
            <a:spAutoFit/>
          </a:bodyPr>
          <a:lstStyle/>
          <a:p>
            <a:pPr algn="ctr">
              <a:lnSpc>
                <a:spcPct val="108000"/>
              </a:lnSpc>
              <a:spcAft>
                <a:spcPts val="0"/>
              </a:spcAft>
              <a:defRPr sz="2700" b="1">
                <a:solidFill>
                  <a:srgbClr val="64716C"/>
                </a:solidFill>
                <a:latin typeface="Arial"/>
              </a:defRPr>
            </a:pPr>
            <a:r>
              <a:t>M</a:t>
            </a:r>
          </a:p>
        </p:txBody>
      </p:sp>
      <p:sp>
        <p:nvSpPr>
          <p:cNvPr id="32" name="TextBox 31"/>
          <p:cNvSpPr txBox="1"/>
          <p:nvPr/>
        </p:nvSpPr>
        <p:spPr>
          <a:xfrm>
            <a:off x="8823960" y="3749039"/>
            <a:ext cx="777240" cy="640080"/>
          </a:xfrm>
          <a:prstGeom prst="rect">
            <a:avLst/>
          </a:prstGeom>
          <a:noFill/>
        </p:spPr>
        <p:txBody>
          <a:bodyPr wrap="none" lIns="0" rIns="0" tIns="0" bIns="0">
            <a:spAutoFit/>
          </a:bodyPr>
          <a:lstStyle/>
          <a:p>
            <a:pPr algn="ctr">
              <a:lnSpc>
                <a:spcPct val="108000"/>
              </a:lnSpc>
              <a:spcAft>
                <a:spcPts val="0"/>
              </a:spcAft>
              <a:defRPr sz="4200" b="1">
                <a:solidFill>
                  <a:srgbClr val="34675C"/>
                </a:solidFill>
                <a:latin typeface="Arial"/>
              </a:defRPr>
            </a:pPr>
            <a:r>
              <a:t>4</a:t>
            </a:r>
          </a:p>
        </p:txBody>
      </p:sp>
      <p:sp>
        <p:nvSpPr>
          <p:cNvPr id="33" name="TextBox 32"/>
          <p:cNvSpPr txBox="1"/>
          <p:nvPr/>
        </p:nvSpPr>
        <p:spPr>
          <a:xfrm>
            <a:off x="9829800" y="2971800"/>
            <a:ext cx="777240" cy="457200"/>
          </a:xfrm>
          <a:prstGeom prst="rect">
            <a:avLst/>
          </a:prstGeom>
          <a:noFill/>
        </p:spPr>
        <p:txBody>
          <a:bodyPr wrap="none" lIns="0" rIns="0" tIns="0" bIns="0">
            <a:spAutoFit/>
          </a:bodyPr>
          <a:lstStyle/>
          <a:p>
            <a:pPr algn="ctr">
              <a:lnSpc>
                <a:spcPct val="108000"/>
              </a:lnSpc>
              <a:spcAft>
                <a:spcPts val="0"/>
              </a:spcAft>
              <a:defRPr sz="2700" b="1">
                <a:solidFill>
                  <a:srgbClr val="64716C"/>
                </a:solidFill>
                <a:latin typeface="Arial"/>
              </a:defRPr>
            </a:pPr>
            <a:r>
              <a:t>L</a:t>
            </a:r>
          </a:p>
        </p:txBody>
      </p:sp>
      <p:sp>
        <p:nvSpPr>
          <p:cNvPr id="34" name="TextBox 33"/>
          <p:cNvSpPr txBox="1"/>
          <p:nvPr/>
        </p:nvSpPr>
        <p:spPr>
          <a:xfrm>
            <a:off x="9829800" y="3749039"/>
            <a:ext cx="777240" cy="640080"/>
          </a:xfrm>
          <a:prstGeom prst="rect">
            <a:avLst/>
          </a:prstGeom>
          <a:noFill/>
        </p:spPr>
        <p:txBody>
          <a:bodyPr wrap="none" lIns="0" rIns="0" tIns="0" bIns="0">
            <a:spAutoFit/>
          </a:bodyPr>
          <a:lstStyle/>
          <a:p>
            <a:pPr algn="ctr">
              <a:lnSpc>
                <a:spcPct val="108000"/>
              </a:lnSpc>
              <a:spcAft>
                <a:spcPts val="0"/>
              </a:spcAft>
              <a:defRPr sz="4200" b="1">
                <a:solidFill>
                  <a:srgbClr val="D65A3A"/>
                </a:solidFill>
                <a:latin typeface="Arial"/>
              </a:defRPr>
            </a:pPr>
            <a:r>
              <a:t>0</a:t>
            </a:r>
          </a:p>
        </p:txBody>
      </p:sp>
      <p:sp>
        <p:nvSpPr>
          <p:cNvPr id="35" name="TextBox 34"/>
          <p:cNvSpPr txBox="1"/>
          <p:nvPr/>
        </p:nvSpPr>
        <p:spPr>
          <a:xfrm>
            <a:off x="5897880" y="5577840"/>
            <a:ext cx="5257800" cy="411480"/>
          </a:xfrm>
          <a:prstGeom prst="rect">
            <a:avLst/>
          </a:prstGeom>
          <a:noFill/>
        </p:spPr>
        <p:txBody>
          <a:bodyPr wrap="none" lIns="0" rIns="0" tIns="0" bIns="0">
            <a:spAutoFit/>
          </a:bodyPr>
          <a:lstStyle/>
          <a:p>
            <a:pPr algn="ctr">
              <a:lnSpc>
                <a:spcPct val="108000"/>
              </a:lnSpc>
              <a:spcAft>
                <a:spcPts val="0"/>
              </a:spcAft>
              <a:defRPr sz="2000" b="1">
                <a:solidFill>
                  <a:srgbClr val="34675C"/>
                </a:solidFill>
                <a:latin typeface="Arial"/>
              </a:defRPr>
            </a:pPr>
            <a:r>
              <a:t>TALLA + COLOR + UNIDADES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1E9"/>
        </a:solidFill>
        <a:effectLst/>
      </p:bgPr>
    </p:bg>
    <p:spTree>
      <p:nvGrpSpPr>
        <p:cNvPr id="1" name=""/>
        <p:cNvGrpSpPr/>
        <p:nvPr/>
      </p:nvGrpSpPr>
      <p:grpSpPr/>
      <p:sp>
        <p:nvSpPr>
          <p:cNvPr id="2" name="TextBox 1"/>
          <p:cNvSpPr txBox="1"/>
          <p:nvPr/>
        </p:nvSpPr>
        <p:spPr>
          <a:xfrm>
            <a:off x="548640" y="292608"/>
            <a:ext cx="4572000" cy="210312"/>
          </a:xfrm>
          <a:prstGeom prst="rect">
            <a:avLst/>
          </a:prstGeom>
          <a:noFill/>
        </p:spPr>
        <p:txBody>
          <a:bodyPr wrap="none" lIns="0" rIns="0" tIns="0" bIns="0">
            <a:spAutoFit/>
          </a:bodyPr>
          <a:lstStyle/>
          <a:p>
            <a:pPr>
              <a:lnSpc>
                <a:spcPct val="108000"/>
              </a:lnSpc>
              <a:spcAft>
                <a:spcPts val="0"/>
              </a:spcAft>
              <a:defRPr sz="1000" b="1">
                <a:solidFill>
                  <a:srgbClr val="64716C"/>
                </a:solidFill>
                <a:latin typeface="Arial"/>
              </a:defRPr>
            </a:pPr>
            <a:r>
              <a:t>MODA URBANA</a:t>
            </a:r>
          </a:p>
        </p:txBody>
      </p:sp>
      <p:sp>
        <p:nvSpPr>
          <p:cNvPr id="3" name="TextBox 2"/>
          <p:cNvSpPr txBox="1"/>
          <p:nvPr/>
        </p:nvSpPr>
        <p:spPr>
          <a:xfrm>
            <a:off x="11109960" y="292608"/>
            <a:ext cx="502920" cy="210312"/>
          </a:xfrm>
          <a:prstGeom prst="rect">
            <a:avLst/>
          </a:prstGeom>
          <a:noFill/>
        </p:spPr>
        <p:txBody>
          <a:bodyPr wrap="none" lIns="0" rIns="0" tIns="0" bIns="0">
            <a:spAutoFit/>
          </a:bodyPr>
          <a:lstStyle/>
          <a:p>
            <a:pPr algn="ctr">
              <a:lnSpc>
                <a:spcPct val="108000"/>
              </a:lnSpc>
              <a:spcAft>
                <a:spcPts val="0"/>
              </a:spcAft>
              <a:defRPr sz="1000" b="1">
                <a:solidFill>
                  <a:srgbClr val="64716C"/>
                </a:solidFill>
                <a:latin typeface="Arial"/>
              </a:defRPr>
            </a:pPr>
            <a:r>
              <a:t>07</a:t>
            </a:r>
          </a:p>
        </p:txBody>
      </p:sp>
      <p:sp>
        <p:nvSpPr>
          <p:cNvPr id="4" name="TextBox 3"/>
          <p:cNvSpPr txBox="1"/>
          <p:nvPr/>
        </p:nvSpPr>
        <p:spPr>
          <a:xfrm>
            <a:off x="548640" y="859536"/>
            <a:ext cx="11064240" cy="685800"/>
          </a:xfrm>
          <a:prstGeom prst="rect">
            <a:avLst/>
          </a:prstGeom>
          <a:noFill/>
        </p:spPr>
        <p:txBody>
          <a:bodyPr wrap="none" lIns="0" rIns="0" tIns="0" bIns="0">
            <a:spAutoFit/>
          </a:bodyPr>
          <a:lstStyle/>
          <a:p>
            <a:pPr>
              <a:lnSpc>
                <a:spcPct val="108000"/>
              </a:lnSpc>
              <a:spcAft>
                <a:spcPts val="0"/>
              </a:spcAft>
              <a:defRPr sz="3400" b="1">
                <a:solidFill>
                  <a:srgbClr val="192E30"/>
                </a:solidFill>
                <a:latin typeface="Arial"/>
              </a:defRPr>
            </a:pPr>
            <a:r>
              <a:t>Cada pedido tiene un recorrido</a:t>
            </a:r>
          </a:p>
        </p:txBody>
      </p:sp>
      <p:sp>
        <p:nvSpPr>
          <p:cNvPr id="5" name="TextBox 4"/>
          <p:cNvSpPr txBox="1"/>
          <p:nvPr/>
        </p:nvSpPr>
        <p:spPr>
          <a:xfrm>
            <a:off x="548640" y="6464808"/>
            <a:ext cx="3657600" cy="210312"/>
          </a:xfrm>
          <a:prstGeom prst="rect">
            <a:avLst/>
          </a:prstGeom>
          <a:noFill/>
        </p:spPr>
        <p:txBody>
          <a:bodyPr wrap="none" lIns="0" rIns="0" tIns="0" bIns="0">
            <a:spAutoFit/>
          </a:bodyPr>
          <a:lstStyle/>
          <a:p>
            <a:pPr>
              <a:lnSpc>
                <a:spcPct val="108000"/>
              </a:lnSpc>
              <a:spcAft>
                <a:spcPts val="0"/>
              </a:spcAft>
              <a:defRPr sz="900" b="0">
                <a:solidFill>
                  <a:srgbClr val="64716C"/>
                </a:solidFill>
                <a:latin typeface="Arial"/>
              </a:defRPr>
            </a:pPr>
            <a:r>
              <a:t>Caso ficticio</a:t>
            </a:r>
          </a:p>
        </p:txBody>
      </p:sp>
      <p:sp>
        <p:nvSpPr>
          <p:cNvPr id="6" name="Rounded Rectangle 5"/>
          <p:cNvSpPr/>
          <p:nvPr/>
        </p:nvSpPr>
        <p:spPr>
          <a:xfrm>
            <a:off x="777240" y="2560320"/>
            <a:ext cx="2834640" cy="251460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560320"/>
            <a:ext cx="2834640" cy="276606"/>
          </a:xfrm>
          <a:prstGeom prst="rect">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62279" y="2648331"/>
            <a:ext cx="39684" cy="39684"/>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649" y="2648331"/>
            <a:ext cx="39684" cy="39684"/>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21019" y="2648331"/>
            <a:ext cx="39684" cy="39684"/>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04798" y="3012948"/>
            <a:ext cx="1048816" cy="1810512"/>
          </a:xfrm>
          <a:prstGeom prst="roundRect">
            <a:avLst>
              <a:gd name="adj" fmla="val 13000"/>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988948" y="3296798"/>
            <a:ext cx="850934" cy="816202"/>
          </a:xfrm>
          <a:custGeom>
            <a:avLst/>
            <a:gdLst/>
            <a:ahLst/>
            <a:cxnLst/>
            <a:rect l="l" t="t" r="r" b="b"/>
            <a:pathLst>
              <a:path w="931" h="893">
                <a:moveTo>
                  <a:pt x="84" y="149"/>
                </a:moveTo>
                <a:lnTo>
                  <a:pt x="317" y="0"/>
                </a:lnTo>
                <a:lnTo>
                  <a:pt x="400" y="75"/>
                </a:lnTo>
                <a:lnTo>
                  <a:pt x="531" y="75"/>
                </a:lnTo>
                <a:lnTo>
                  <a:pt x="614" y="0"/>
                </a:lnTo>
                <a:lnTo>
                  <a:pt x="847" y="149"/>
                </a:lnTo>
                <a:lnTo>
                  <a:pt x="931" y="344"/>
                </a:lnTo>
                <a:lnTo>
                  <a:pt x="735" y="428"/>
                </a:lnTo>
                <a:lnTo>
                  <a:pt x="679" y="307"/>
                </a:lnTo>
                <a:lnTo>
                  <a:pt x="679" y="893"/>
                </a:lnTo>
                <a:lnTo>
                  <a:pt x="252" y="893"/>
                </a:lnTo>
                <a:lnTo>
                  <a:pt x="252" y="307"/>
                </a:lnTo>
                <a:lnTo>
                  <a:pt x="196" y="428"/>
                </a:lnTo>
                <a:lnTo>
                  <a:pt x="0" y="344"/>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355506" y="3374958"/>
            <a:ext cx="119055"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137867" y="3038094"/>
            <a:ext cx="368503" cy="704088"/>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165266" y="3124052"/>
            <a:ext cx="297050" cy="285168"/>
          </a:xfrm>
          <a:custGeom>
            <a:avLst/>
            <a:gdLst/>
            <a:ahLst/>
            <a:cxnLst/>
            <a:rect l="l" t="t" r="r" b="b"/>
            <a:pathLst>
              <a:path w="325" h="312">
                <a:moveTo>
                  <a:pt x="29" y="52"/>
                </a:moveTo>
                <a:lnTo>
                  <a:pt x="111" y="0"/>
                </a:lnTo>
                <a:lnTo>
                  <a:pt x="140" y="26"/>
                </a:lnTo>
                <a:lnTo>
                  <a:pt x="186" y="26"/>
                </a:lnTo>
                <a:lnTo>
                  <a:pt x="215" y="0"/>
                </a:lnTo>
                <a:lnTo>
                  <a:pt x="296" y="52"/>
                </a:lnTo>
                <a:lnTo>
                  <a:pt x="325" y="120"/>
                </a:lnTo>
                <a:lnTo>
                  <a:pt x="257" y="150"/>
                </a:lnTo>
                <a:lnTo>
                  <a:pt x="238" y="107"/>
                </a:lnTo>
                <a:lnTo>
                  <a:pt x="238" y="312"/>
                </a:lnTo>
                <a:lnTo>
                  <a:pt x="88" y="312"/>
                </a:lnTo>
                <a:lnTo>
                  <a:pt x="88" y="107"/>
                </a:lnTo>
                <a:lnTo>
                  <a:pt x="68" y="150"/>
                </a:lnTo>
                <a:lnTo>
                  <a:pt x="0" y="120"/>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2294197" y="3152224"/>
            <a:ext cx="41669"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591409" y="3038094"/>
            <a:ext cx="368503" cy="704088"/>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618610" y="3124052"/>
            <a:ext cx="297050" cy="285168"/>
          </a:xfrm>
          <a:custGeom>
            <a:avLst/>
            <a:gdLst/>
            <a:ahLst/>
            <a:cxnLst/>
            <a:rect l="l" t="t" r="r" b="b"/>
            <a:pathLst>
              <a:path w="325" h="312">
                <a:moveTo>
                  <a:pt x="29" y="52"/>
                </a:moveTo>
                <a:lnTo>
                  <a:pt x="111" y="0"/>
                </a:lnTo>
                <a:lnTo>
                  <a:pt x="140" y="26"/>
                </a:lnTo>
                <a:lnTo>
                  <a:pt x="186" y="26"/>
                </a:lnTo>
                <a:lnTo>
                  <a:pt x="215" y="0"/>
                </a:lnTo>
                <a:lnTo>
                  <a:pt x="296" y="52"/>
                </a:lnTo>
                <a:lnTo>
                  <a:pt x="325" y="120"/>
                </a:lnTo>
                <a:lnTo>
                  <a:pt x="257" y="150"/>
                </a:lnTo>
                <a:lnTo>
                  <a:pt x="238" y="107"/>
                </a:lnTo>
                <a:lnTo>
                  <a:pt x="238" y="312"/>
                </a:lnTo>
                <a:lnTo>
                  <a:pt x="88" y="312"/>
                </a:lnTo>
                <a:lnTo>
                  <a:pt x="88" y="107"/>
                </a:lnTo>
                <a:lnTo>
                  <a:pt x="68" y="150"/>
                </a:lnTo>
                <a:lnTo>
                  <a:pt x="0" y="120"/>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747739" y="3152224"/>
            <a:ext cx="41670"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044952" y="3038094"/>
            <a:ext cx="368503" cy="704088"/>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071954" y="3124052"/>
            <a:ext cx="297050" cy="285168"/>
          </a:xfrm>
          <a:custGeom>
            <a:avLst/>
            <a:gdLst/>
            <a:ahLst/>
            <a:cxnLst/>
            <a:rect l="l" t="t" r="r" b="b"/>
            <a:pathLst>
              <a:path w="325" h="312">
                <a:moveTo>
                  <a:pt x="29" y="52"/>
                </a:moveTo>
                <a:lnTo>
                  <a:pt x="111" y="0"/>
                </a:lnTo>
                <a:lnTo>
                  <a:pt x="140" y="26"/>
                </a:lnTo>
                <a:lnTo>
                  <a:pt x="186" y="26"/>
                </a:lnTo>
                <a:lnTo>
                  <a:pt x="215" y="0"/>
                </a:lnTo>
                <a:lnTo>
                  <a:pt x="296" y="52"/>
                </a:lnTo>
                <a:lnTo>
                  <a:pt x="325" y="120"/>
                </a:lnTo>
                <a:lnTo>
                  <a:pt x="257" y="150"/>
                </a:lnTo>
                <a:lnTo>
                  <a:pt x="238" y="107"/>
                </a:lnTo>
                <a:lnTo>
                  <a:pt x="238" y="312"/>
                </a:lnTo>
                <a:lnTo>
                  <a:pt x="88" y="312"/>
                </a:lnTo>
                <a:lnTo>
                  <a:pt x="88" y="107"/>
                </a:lnTo>
                <a:lnTo>
                  <a:pt x="68" y="150"/>
                </a:lnTo>
                <a:lnTo>
                  <a:pt x="0" y="120"/>
                </a:lnTo>
                <a:close/>
              </a:path>
            </a:pathLst>
          </a:custGeom>
          <a:solidFill>
            <a:srgbClr val="64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3201282" y="3152224"/>
            <a:ext cx="41669"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2137867" y="3918204"/>
            <a:ext cx="1133856" cy="67894"/>
          </a:xfrm>
          <a:prstGeom prst="rect">
            <a:avLst/>
          </a:prstGeom>
          <a:solidFill>
            <a:srgbClr val="D6D9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37867" y="4094226"/>
            <a:ext cx="793699" cy="67894"/>
          </a:xfrm>
          <a:prstGeom prst="rect">
            <a:avLst/>
          </a:prstGeom>
          <a:solidFill>
            <a:srgbClr val="D6D9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137867" y="4345686"/>
            <a:ext cx="184251" cy="201168"/>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37867" y="4383404"/>
            <a:ext cx="184251" cy="176022"/>
          </a:xfrm>
          <a:prstGeom prst="rect">
            <a:avLst/>
          </a:prstGeom>
          <a:noFill/>
        </p:spPr>
        <p:txBody>
          <a:bodyPr wrap="none" lIns="0" rIns="0" tIns="0" bIns="0">
            <a:spAutoFit/>
          </a:bodyPr>
          <a:lstStyle/>
          <a:p>
            <a:pPr algn="ctr">
              <a:lnSpc>
                <a:spcPct val="108000"/>
              </a:lnSpc>
              <a:spcAft>
                <a:spcPts val="0"/>
              </a:spcAft>
              <a:defRPr sz="700" b="1">
                <a:solidFill>
                  <a:srgbClr val="192E30"/>
                </a:solidFill>
                <a:latin typeface="Arial"/>
              </a:defRPr>
            </a:pPr>
            <a:r>
              <a:t>S</a:t>
            </a:r>
          </a:p>
        </p:txBody>
      </p:sp>
      <p:sp>
        <p:nvSpPr>
          <p:cNvPr id="27" name="Rectangle 26"/>
          <p:cNvSpPr/>
          <p:nvPr/>
        </p:nvSpPr>
        <p:spPr>
          <a:xfrm>
            <a:off x="2378811" y="4345686"/>
            <a:ext cx="184251" cy="201168"/>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78811" y="4383404"/>
            <a:ext cx="184251" cy="176022"/>
          </a:xfrm>
          <a:prstGeom prst="rect">
            <a:avLst/>
          </a:prstGeom>
          <a:noFill/>
        </p:spPr>
        <p:txBody>
          <a:bodyPr wrap="none" lIns="0" rIns="0" tIns="0" bIns="0">
            <a:spAutoFit/>
          </a:bodyPr>
          <a:lstStyle/>
          <a:p>
            <a:pPr algn="ctr">
              <a:lnSpc>
                <a:spcPct val="108000"/>
              </a:lnSpc>
              <a:spcAft>
                <a:spcPts val="0"/>
              </a:spcAft>
              <a:defRPr sz="700" b="1">
                <a:solidFill>
                  <a:srgbClr val="192E30"/>
                </a:solidFill>
                <a:latin typeface="Arial"/>
              </a:defRPr>
            </a:pPr>
            <a:r>
              <a:t>M</a:t>
            </a:r>
          </a:p>
        </p:txBody>
      </p:sp>
      <p:sp>
        <p:nvSpPr>
          <p:cNvPr id="29" name="Rectangle 28"/>
          <p:cNvSpPr/>
          <p:nvPr/>
        </p:nvSpPr>
        <p:spPr>
          <a:xfrm>
            <a:off x="2619756" y="4345686"/>
            <a:ext cx="184251" cy="201168"/>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19756" y="4383404"/>
            <a:ext cx="184251" cy="176022"/>
          </a:xfrm>
          <a:prstGeom prst="rect">
            <a:avLst/>
          </a:prstGeom>
          <a:noFill/>
        </p:spPr>
        <p:txBody>
          <a:bodyPr wrap="none" lIns="0" rIns="0" tIns="0" bIns="0">
            <a:spAutoFit/>
          </a:bodyPr>
          <a:lstStyle/>
          <a:p>
            <a:pPr algn="ctr">
              <a:lnSpc>
                <a:spcPct val="108000"/>
              </a:lnSpc>
              <a:spcAft>
                <a:spcPts val="0"/>
              </a:spcAft>
              <a:defRPr sz="700" b="1">
                <a:solidFill>
                  <a:srgbClr val="192E30"/>
                </a:solidFill>
                <a:latin typeface="Arial"/>
              </a:defRPr>
            </a:pPr>
            <a:r>
              <a:t>L</a:t>
            </a:r>
          </a:p>
        </p:txBody>
      </p:sp>
      <p:sp>
        <p:nvSpPr>
          <p:cNvPr id="31" name="Rounded Rectangle 30"/>
          <p:cNvSpPr/>
          <p:nvPr/>
        </p:nvSpPr>
        <p:spPr>
          <a:xfrm>
            <a:off x="2137867" y="4672583"/>
            <a:ext cx="1133856" cy="201168"/>
          </a:xfrm>
          <a:prstGeom prst="roundRect">
            <a:avLst>
              <a:gd name="adj" fmla="val 13000"/>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3749039" y="3611880"/>
            <a:ext cx="502921" cy="0"/>
          </a:xfrm>
          <a:prstGeom prst="line">
            <a:avLst/>
          </a:prstGeom>
          <a:ln w="38100">
            <a:solidFill>
              <a:srgbClr val="D65A3A"/>
            </a:solidFill>
          </a:ln>
        </p:spPr>
        <p:style>
          <a:lnRef idx="2">
            <a:schemeClr val="accent1"/>
          </a:lnRef>
          <a:fillRef idx="0">
            <a:schemeClr val="accent1"/>
          </a:fillRef>
          <a:effectRef idx="1">
            <a:schemeClr val="accent1"/>
          </a:effectRef>
          <a:fontRef idx="minor">
            <a:schemeClr val="tx1"/>
          </a:fontRef>
        </p:style>
      </p:cxnSp>
      <p:sp>
        <p:nvSpPr>
          <p:cNvPr id="33" name="Freeform 32"/>
          <p:cNvSpPr/>
          <p:nvPr/>
        </p:nvSpPr>
        <p:spPr>
          <a:xfrm>
            <a:off x="4067300" y="3491480"/>
            <a:ext cx="274200" cy="237640"/>
          </a:xfrm>
          <a:custGeom>
            <a:avLst/>
            <a:gdLst/>
            <a:ahLst/>
            <a:cxnLst/>
            <a:rect l="l" t="t" r="r" b="b"/>
            <a:pathLst>
              <a:path w="300" h="260">
                <a:moveTo>
                  <a:pt x="0" y="0"/>
                </a:moveTo>
                <a:lnTo>
                  <a:pt x="300" y="130"/>
                </a:lnTo>
                <a:lnTo>
                  <a:pt x="0" y="260"/>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54880" y="3063240"/>
            <a:ext cx="2194560" cy="1536192"/>
          </a:xfrm>
          <a:prstGeom prst="rect">
            <a:avLst/>
          </a:prstGeom>
          <a:solidFill>
            <a:srgbClr val="E8DA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4752800" y="2579308"/>
            <a:ext cx="2325216" cy="482592"/>
          </a:xfrm>
          <a:custGeom>
            <a:avLst/>
            <a:gdLst/>
            <a:ahLst/>
            <a:cxnLst/>
            <a:rect l="l" t="t" r="r" b="b"/>
            <a:pathLst>
              <a:path w="2544" h="528">
                <a:moveTo>
                  <a:pt x="0" y="528"/>
                </a:moveTo>
                <a:lnTo>
                  <a:pt x="528" y="0"/>
                </a:lnTo>
                <a:lnTo>
                  <a:pt x="2544" y="0"/>
                </a:lnTo>
                <a:lnTo>
                  <a:pt x="2400" y="528"/>
                </a:lnTo>
                <a:close/>
              </a:path>
            </a:pathLst>
          </a:custGeom>
          <a:solidFill>
            <a:srgbClr val="D0BE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98540" y="3063240"/>
            <a:ext cx="307238" cy="1536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18227" y="3677716"/>
            <a:ext cx="526694" cy="3950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7360920" y="3611880"/>
            <a:ext cx="502920" cy="0"/>
          </a:xfrm>
          <a:prstGeom prst="line">
            <a:avLst/>
          </a:prstGeom>
          <a:ln w="38100">
            <a:solidFill>
              <a:srgbClr val="D65A3A"/>
            </a:solidFill>
          </a:ln>
        </p:spPr>
        <p:style>
          <a:lnRef idx="2">
            <a:schemeClr val="accent1"/>
          </a:lnRef>
          <a:fillRef idx="0">
            <a:schemeClr val="accent1"/>
          </a:fillRef>
          <a:effectRef idx="1">
            <a:schemeClr val="accent1"/>
          </a:effectRef>
          <a:fontRef idx="minor">
            <a:schemeClr val="tx1"/>
          </a:fontRef>
        </p:style>
      </p:cxnSp>
      <p:sp>
        <p:nvSpPr>
          <p:cNvPr id="39" name="Freeform 38"/>
          <p:cNvSpPr/>
          <p:nvPr/>
        </p:nvSpPr>
        <p:spPr>
          <a:xfrm>
            <a:off x="7677600" y="3491480"/>
            <a:ext cx="274200" cy="237640"/>
          </a:xfrm>
          <a:custGeom>
            <a:avLst/>
            <a:gdLst/>
            <a:ahLst/>
            <a:cxnLst/>
            <a:rect l="l" t="t" r="r" b="b"/>
            <a:pathLst>
              <a:path w="300" h="260">
                <a:moveTo>
                  <a:pt x="0" y="0"/>
                </a:moveTo>
                <a:lnTo>
                  <a:pt x="300" y="130"/>
                </a:lnTo>
                <a:lnTo>
                  <a:pt x="0" y="260"/>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412480" y="2560320"/>
            <a:ext cx="2468880" cy="2468880"/>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9025128" y="3851910"/>
            <a:ext cx="365760" cy="377190"/>
          </a:xfrm>
          <a:prstGeom prst="line">
            <a:avLst/>
          </a:prstGeom>
          <a:ln w="63500">
            <a:solidFill>
              <a:srgbClr val="34675C"/>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9390888" y="3337560"/>
            <a:ext cx="777240" cy="891540"/>
          </a:xfrm>
          <a:prstGeom prst="line">
            <a:avLst/>
          </a:prstGeom>
          <a:ln w="63500">
            <a:solidFill>
              <a:srgbClr val="34675C"/>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0080" y="5440680"/>
            <a:ext cx="3200400" cy="411480"/>
          </a:xfrm>
          <a:prstGeom prst="rect">
            <a:avLst/>
          </a:prstGeom>
          <a:noFill/>
        </p:spPr>
        <p:txBody>
          <a:bodyPr wrap="none" lIns="0" rIns="0" tIns="0" bIns="0">
            <a:spAutoFit/>
          </a:bodyPr>
          <a:lstStyle/>
          <a:p>
            <a:pPr algn="ctr">
              <a:lnSpc>
                <a:spcPct val="108000"/>
              </a:lnSpc>
              <a:spcAft>
                <a:spcPts val="0"/>
              </a:spcAft>
              <a:defRPr sz="2200" b="1">
                <a:solidFill>
                  <a:srgbClr val="192E30"/>
                </a:solidFill>
                <a:latin typeface="Arial"/>
              </a:defRPr>
            </a:pPr>
            <a:r>
              <a:t>RECIBIDO</a:t>
            </a:r>
          </a:p>
        </p:txBody>
      </p:sp>
      <p:sp>
        <p:nvSpPr>
          <p:cNvPr id="44" name="TextBox 43"/>
          <p:cNvSpPr txBox="1"/>
          <p:nvPr/>
        </p:nvSpPr>
        <p:spPr>
          <a:xfrm>
            <a:off x="4434840" y="5440680"/>
            <a:ext cx="2926080" cy="411480"/>
          </a:xfrm>
          <a:prstGeom prst="rect">
            <a:avLst/>
          </a:prstGeom>
          <a:noFill/>
        </p:spPr>
        <p:txBody>
          <a:bodyPr wrap="none" lIns="0" rIns="0" tIns="0" bIns="0">
            <a:spAutoFit/>
          </a:bodyPr>
          <a:lstStyle/>
          <a:p>
            <a:pPr algn="ctr">
              <a:lnSpc>
                <a:spcPct val="108000"/>
              </a:lnSpc>
              <a:spcAft>
                <a:spcPts val="0"/>
              </a:spcAft>
              <a:defRPr sz="2200" b="1">
                <a:solidFill>
                  <a:srgbClr val="192E30"/>
                </a:solidFill>
                <a:latin typeface="Arial"/>
              </a:defRPr>
            </a:pPr>
            <a:r>
              <a:t>PREPARACIÓN</a:t>
            </a:r>
          </a:p>
        </p:txBody>
      </p:sp>
      <p:sp>
        <p:nvSpPr>
          <p:cNvPr id="45" name="TextBox 44"/>
          <p:cNvSpPr txBox="1"/>
          <p:nvPr/>
        </p:nvSpPr>
        <p:spPr>
          <a:xfrm>
            <a:off x="8183879" y="5440680"/>
            <a:ext cx="3017520" cy="411480"/>
          </a:xfrm>
          <a:prstGeom prst="rect">
            <a:avLst/>
          </a:prstGeom>
          <a:noFill/>
        </p:spPr>
        <p:txBody>
          <a:bodyPr wrap="none" lIns="0" rIns="0" tIns="0" bIns="0">
            <a:spAutoFit/>
          </a:bodyPr>
          <a:lstStyle/>
          <a:p>
            <a:pPr algn="ctr">
              <a:lnSpc>
                <a:spcPct val="108000"/>
              </a:lnSpc>
              <a:spcAft>
                <a:spcPts val="0"/>
              </a:spcAft>
              <a:defRPr sz="2200" b="1">
                <a:solidFill>
                  <a:srgbClr val="34675C"/>
                </a:solidFill>
                <a:latin typeface="Arial"/>
              </a:defRPr>
            </a:pPr>
            <a:r>
              <a:t>PREPARADO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1E9"/>
        </a:solidFill>
        <a:effectLst/>
      </p:bgPr>
    </p:bg>
    <p:spTree>
      <p:nvGrpSpPr>
        <p:cNvPr id="1" name=""/>
        <p:cNvGrpSpPr/>
        <p:nvPr/>
      </p:nvGrpSpPr>
      <p:grpSpPr/>
      <p:sp>
        <p:nvSpPr>
          <p:cNvPr id="2" name="TextBox 1"/>
          <p:cNvSpPr txBox="1"/>
          <p:nvPr/>
        </p:nvSpPr>
        <p:spPr>
          <a:xfrm>
            <a:off x="548640" y="292608"/>
            <a:ext cx="4572000" cy="210312"/>
          </a:xfrm>
          <a:prstGeom prst="rect">
            <a:avLst/>
          </a:prstGeom>
          <a:noFill/>
        </p:spPr>
        <p:txBody>
          <a:bodyPr wrap="none" lIns="0" rIns="0" tIns="0" bIns="0">
            <a:spAutoFit/>
          </a:bodyPr>
          <a:lstStyle/>
          <a:p>
            <a:pPr>
              <a:lnSpc>
                <a:spcPct val="108000"/>
              </a:lnSpc>
              <a:spcAft>
                <a:spcPts val="0"/>
              </a:spcAft>
              <a:defRPr sz="1000" b="1">
                <a:solidFill>
                  <a:srgbClr val="64716C"/>
                </a:solidFill>
                <a:latin typeface="Arial"/>
              </a:defRPr>
            </a:pPr>
            <a:r>
              <a:t>MODA URBANA</a:t>
            </a:r>
          </a:p>
        </p:txBody>
      </p:sp>
      <p:sp>
        <p:nvSpPr>
          <p:cNvPr id="3" name="TextBox 2"/>
          <p:cNvSpPr txBox="1"/>
          <p:nvPr/>
        </p:nvSpPr>
        <p:spPr>
          <a:xfrm>
            <a:off x="11109960" y="292608"/>
            <a:ext cx="502920" cy="210312"/>
          </a:xfrm>
          <a:prstGeom prst="rect">
            <a:avLst/>
          </a:prstGeom>
          <a:noFill/>
        </p:spPr>
        <p:txBody>
          <a:bodyPr wrap="none" lIns="0" rIns="0" tIns="0" bIns="0">
            <a:spAutoFit/>
          </a:bodyPr>
          <a:lstStyle/>
          <a:p>
            <a:pPr algn="ctr">
              <a:lnSpc>
                <a:spcPct val="108000"/>
              </a:lnSpc>
              <a:spcAft>
                <a:spcPts val="0"/>
              </a:spcAft>
              <a:defRPr sz="1000" b="1">
                <a:solidFill>
                  <a:srgbClr val="64716C"/>
                </a:solidFill>
                <a:latin typeface="Arial"/>
              </a:defRPr>
            </a:pPr>
            <a:r>
              <a:t>08</a:t>
            </a:r>
          </a:p>
        </p:txBody>
      </p:sp>
      <p:sp>
        <p:nvSpPr>
          <p:cNvPr id="4" name="TextBox 3"/>
          <p:cNvSpPr txBox="1"/>
          <p:nvPr/>
        </p:nvSpPr>
        <p:spPr>
          <a:xfrm>
            <a:off x="548640" y="859536"/>
            <a:ext cx="11064240" cy="685800"/>
          </a:xfrm>
          <a:prstGeom prst="rect">
            <a:avLst/>
          </a:prstGeom>
          <a:noFill/>
        </p:spPr>
        <p:txBody>
          <a:bodyPr wrap="none" lIns="0" rIns="0" tIns="0" bIns="0">
            <a:spAutoFit/>
          </a:bodyPr>
          <a:lstStyle/>
          <a:p>
            <a:pPr>
              <a:lnSpc>
                <a:spcPct val="108000"/>
              </a:lnSpc>
              <a:spcAft>
                <a:spcPts val="0"/>
              </a:spcAft>
              <a:defRPr sz="3400" b="1">
                <a:solidFill>
                  <a:srgbClr val="192E30"/>
                </a:solidFill>
                <a:latin typeface="Arial"/>
              </a:defRPr>
            </a:pPr>
            <a:r>
              <a:t>Un equipo más organizado</a:t>
            </a:r>
          </a:p>
        </p:txBody>
      </p:sp>
      <p:sp>
        <p:nvSpPr>
          <p:cNvPr id="5" name="TextBox 4"/>
          <p:cNvSpPr txBox="1"/>
          <p:nvPr/>
        </p:nvSpPr>
        <p:spPr>
          <a:xfrm>
            <a:off x="548640" y="6464808"/>
            <a:ext cx="3657600" cy="210312"/>
          </a:xfrm>
          <a:prstGeom prst="rect">
            <a:avLst/>
          </a:prstGeom>
          <a:noFill/>
        </p:spPr>
        <p:txBody>
          <a:bodyPr wrap="none" lIns="0" rIns="0" tIns="0" bIns="0">
            <a:spAutoFit/>
          </a:bodyPr>
          <a:lstStyle/>
          <a:p>
            <a:pPr>
              <a:lnSpc>
                <a:spcPct val="108000"/>
              </a:lnSpc>
              <a:spcAft>
                <a:spcPts val="0"/>
              </a:spcAft>
              <a:defRPr sz="900" b="0">
                <a:solidFill>
                  <a:srgbClr val="64716C"/>
                </a:solidFill>
                <a:latin typeface="Arial"/>
              </a:defRPr>
            </a:pPr>
            <a:r>
              <a:t>Caso ficticio</a:t>
            </a:r>
          </a:p>
        </p:txBody>
      </p:sp>
      <p:sp>
        <p:nvSpPr>
          <p:cNvPr id="6" name="Oval 5"/>
          <p:cNvSpPr/>
          <p:nvPr/>
        </p:nvSpPr>
        <p:spPr>
          <a:xfrm>
            <a:off x="1531620" y="2331720"/>
            <a:ext cx="685800" cy="685800"/>
          </a:xfrm>
          <a:prstGeom prst="ellipse">
            <a:avLst/>
          </a:pr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88720" y="3154679"/>
            <a:ext cx="1371600" cy="1303019"/>
          </a:xfrm>
          <a:prstGeom prst="roundRect">
            <a:avLst>
              <a:gd name="adj" fmla="val 13000"/>
            </a:avLst>
          </a:pr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108960" y="3246120"/>
            <a:ext cx="548640" cy="548640"/>
          </a:xfrm>
          <a:prstGeom prst="ellipse">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34640" y="3904487"/>
            <a:ext cx="1097280" cy="1042415"/>
          </a:xfrm>
          <a:prstGeom prst="roundRect">
            <a:avLst>
              <a:gd name="adj" fmla="val 13000"/>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4480560" y="3520440"/>
            <a:ext cx="960120" cy="0"/>
          </a:xfrm>
          <a:prstGeom prst="line">
            <a:avLst/>
          </a:prstGeom>
          <a:ln w="38100">
            <a:solidFill>
              <a:srgbClr val="D65A3A"/>
            </a:solidFill>
          </a:ln>
        </p:spPr>
        <p:style>
          <a:lnRef idx="2">
            <a:schemeClr val="accent1"/>
          </a:lnRef>
          <a:fillRef idx="0">
            <a:schemeClr val="accent1"/>
          </a:fillRef>
          <a:effectRef idx="1">
            <a:schemeClr val="accent1"/>
          </a:effectRef>
          <a:fontRef idx="minor">
            <a:schemeClr val="tx1"/>
          </a:fontRef>
        </p:style>
      </p:cxnSp>
      <p:sp>
        <p:nvSpPr>
          <p:cNvPr id="11" name="Freeform 10"/>
          <p:cNvSpPr/>
          <p:nvPr/>
        </p:nvSpPr>
        <p:spPr>
          <a:xfrm>
            <a:off x="5255500" y="3400080"/>
            <a:ext cx="274200" cy="237640"/>
          </a:xfrm>
          <a:custGeom>
            <a:avLst/>
            <a:gdLst/>
            <a:ahLst/>
            <a:cxnLst/>
            <a:rect l="l" t="t" r="r" b="b"/>
            <a:pathLst>
              <a:path w="300" h="260">
                <a:moveTo>
                  <a:pt x="0" y="0"/>
                </a:moveTo>
                <a:lnTo>
                  <a:pt x="300" y="130"/>
                </a:lnTo>
                <a:lnTo>
                  <a:pt x="0" y="260"/>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46520" y="2103120"/>
            <a:ext cx="3886200" cy="330327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46520" y="2103120"/>
            <a:ext cx="3886200" cy="777240"/>
          </a:xfrm>
          <a:prstGeom prst="rect">
            <a:avLst/>
          </a:pr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35140" y="3346704"/>
            <a:ext cx="349758" cy="310896"/>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35140" y="4007358"/>
            <a:ext cx="349758" cy="310896"/>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35140" y="4668012"/>
            <a:ext cx="349758" cy="310896"/>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0104" y="3346704"/>
            <a:ext cx="349758" cy="310896"/>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90104" y="4007358"/>
            <a:ext cx="349758" cy="310896"/>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90104" y="4668012"/>
            <a:ext cx="349758" cy="310896"/>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545067" y="3346704"/>
            <a:ext cx="349758" cy="310896"/>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545067" y="4007358"/>
            <a:ext cx="349758" cy="310896"/>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545067" y="4668012"/>
            <a:ext cx="349758" cy="310896"/>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400032" y="3346704"/>
            <a:ext cx="349758" cy="310896"/>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400032" y="4007358"/>
            <a:ext cx="349758" cy="310896"/>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400032" y="4668012"/>
            <a:ext cx="349758" cy="310896"/>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90104" y="4007358"/>
            <a:ext cx="349758" cy="310896"/>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77840"/>
            <a:ext cx="3840480" cy="457200"/>
          </a:xfrm>
          <a:prstGeom prst="rect">
            <a:avLst/>
          </a:prstGeom>
          <a:noFill/>
        </p:spPr>
        <p:txBody>
          <a:bodyPr wrap="none" lIns="0" rIns="0" tIns="0" bIns="0">
            <a:spAutoFit/>
          </a:bodyPr>
          <a:lstStyle/>
          <a:p>
            <a:pPr algn="ctr">
              <a:lnSpc>
                <a:spcPct val="108000"/>
              </a:lnSpc>
              <a:spcAft>
                <a:spcPts val="0"/>
              </a:spcAft>
              <a:defRPr sz="2400" b="1">
                <a:solidFill>
                  <a:srgbClr val="192E30"/>
                </a:solidFill>
                <a:latin typeface="Arial"/>
              </a:defRPr>
            </a:pPr>
            <a:r>
              <a:t>EQUIPO</a:t>
            </a:r>
          </a:p>
        </p:txBody>
      </p:sp>
      <p:sp>
        <p:nvSpPr>
          <p:cNvPr id="28" name="TextBox 27"/>
          <p:cNvSpPr txBox="1"/>
          <p:nvPr/>
        </p:nvSpPr>
        <p:spPr>
          <a:xfrm>
            <a:off x="6446520" y="5577840"/>
            <a:ext cx="3886200" cy="457200"/>
          </a:xfrm>
          <a:prstGeom prst="rect">
            <a:avLst/>
          </a:prstGeom>
          <a:noFill/>
        </p:spPr>
        <p:txBody>
          <a:bodyPr wrap="none" lIns="0" rIns="0" tIns="0" bIns="0">
            <a:spAutoFit/>
          </a:bodyPr>
          <a:lstStyle/>
          <a:p>
            <a:pPr algn="ctr">
              <a:lnSpc>
                <a:spcPct val="108000"/>
              </a:lnSpc>
              <a:spcAft>
                <a:spcPts val="0"/>
              </a:spcAft>
              <a:defRPr sz="2400" b="1">
                <a:solidFill>
                  <a:srgbClr val="34675C"/>
                </a:solidFill>
                <a:latin typeface="Arial"/>
              </a:defRPr>
            </a:pPr>
            <a:r>
              <a:t>TURNOS + TAREAS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1E9"/>
        </a:solidFill>
        <a:effectLst/>
      </p:bgPr>
    </p:bg>
    <p:spTree>
      <p:nvGrpSpPr>
        <p:cNvPr id="1" name=""/>
        <p:cNvGrpSpPr/>
        <p:nvPr/>
      </p:nvGrpSpPr>
      <p:grpSpPr/>
      <p:sp>
        <p:nvSpPr>
          <p:cNvPr id="2" name="TextBox 1"/>
          <p:cNvSpPr txBox="1"/>
          <p:nvPr/>
        </p:nvSpPr>
        <p:spPr>
          <a:xfrm>
            <a:off x="548640" y="292608"/>
            <a:ext cx="4572000" cy="210312"/>
          </a:xfrm>
          <a:prstGeom prst="rect">
            <a:avLst/>
          </a:prstGeom>
          <a:noFill/>
        </p:spPr>
        <p:txBody>
          <a:bodyPr wrap="none" lIns="0" rIns="0" tIns="0" bIns="0">
            <a:spAutoFit/>
          </a:bodyPr>
          <a:lstStyle/>
          <a:p>
            <a:pPr>
              <a:lnSpc>
                <a:spcPct val="108000"/>
              </a:lnSpc>
              <a:spcAft>
                <a:spcPts val="0"/>
              </a:spcAft>
              <a:defRPr sz="1000" b="1">
                <a:solidFill>
                  <a:srgbClr val="64716C"/>
                </a:solidFill>
                <a:latin typeface="Arial"/>
              </a:defRPr>
            </a:pPr>
            <a:r>
              <a:t>MODA URBANA</a:t>
            </a:r>
          </a:p>
        </p:txBody>
      </p:sp>
      <p:sp>
        <p:nvSpPr>
          <p:cNvPr id="3" name="TextBox 2"/>
          <p:cNvSpPr txBox="1"/>
          <p:nvPr/>
        </p:nvSpPr>
        <p:spPr>
          <a:xfrm>
            <a:off x="11109960" y="292608"/>
            <a:ext cx="502920" cy="210312"/>
          </a:xfrm>
          <a:prstGeom prst="rect">
            <a:avLst/>
          </a:prstGeom>
          <a:noFill/>
        </p:spPr>
        <p:txBody>
          <a:bodyPr wrap="none" lIns="0" rIns="0" tIns="0" bIns="0">
            <a:spAutoFit/>
          </a:bodyPr>
          <a:lstStyle/>
          <a:p>
            <a:pPr algn="ctr">
              <a:lnSpc>
                <a:spcPct val="108000"/>
              </a:lnSpc>
              <a:spcAft>
                <a:spcPts val="0"/>
              </a:spcAft>
              <a:defRPr sz="1000" b="1">
                <a:solidFill>
                  <a:srgbClr val="64716C"/>
                </a:solidFill>
                <a:latin typeface="Arial"/>
              </a:defRPr>
            </a:pPr>
            <a:r>
              <a:t>09</a:t>
            </a:r>
          </a:p>
        </p:txBody>
      </p:sp>
      <p:sp>
        <p:nvSpPr>
          <p:cNvPr id="4" name="TextBox 3"/>
          <p:cNvSpPr txBox="1"/>
          <p:nvPr/>
        </p:nvSpPr>
        <p:spPr>
          <a:xfrm>
            <a:off x="548640" y="859536"/>
            <a:ext cx="11064240" cy="685800"/>
          </a:xfrm>
          <a:prstGeom prst="rect">
            <a:avLst/>
          </a:prstGeom>
          <a:noFill/>
        </p:spPr>
        <p:txBody>
          <a:bodyPr wrap="none" lIns="0" rIns="0" tIns="0" bIns="0">
            <a:spAutoFit/>
          </a:bodyPr>
          <a:lstStyle/>
          <a:p>
            <a:pPr>
              <a:lnSpc>
                <a:spcPct val="108000"/>
              </a:lnSpc>
              <a:spcAft>
                <a:spcPts val="0"/>
              </a:spcAft>
              <a:defRPr sz="3400" b="1">
                <a:solidFill>
                  <a:srgbClr val="192E30"/>
                </a:solidFill>
                <a:latin typeface="Arial"/>
              </a:defRPr>
            </a:pPr>
            <a:r>
              <a:t>Una herramienta para cada tarea</a:t>
            </a:r>
          </a:p>
        </p:txBody>
      </p:sp>
      <p:sp>
        <p:nvSpPr>
          <p:cNvPr id="5" name="TextBox 4"/>
          <p:cNvSpPr txBox="1"/>
          <p:nvPr/>
        </p:nvSpPr>
        <p:spPr>
          <a:xfrm>
            <a:off x="548640" y="6464808"/>
            <a:ext cx="3657600" cy="210312"/>
          </a:xfrm>
          <a:prstGeom prst="rect">
            <a:avLst/>
          </a:prstGeom>
          <a:noFill/>
        </p:spPr>
        <p:txBody>
          <a:bodyPr wrap="none" lIns="0" rIns="0" tIns="0" bIns="0">
            <a:spAutoFit/>
          </a:bodyPr>
          <a:lstStyle/>
          <a:p>
            <a:pPr>
              <a:lnSpc>
                <a:spcPct val="108000"/>
              </a:lnSpc>
              <a:spcAft>
                <a:spcPts val="0"/>
              </a:spcAft>
              <a:defRPr sz="900" b="0">
                <a:solidFill>
                  <a:srgbClr val="64716C"/>
                </a:solidFill>
                <a:latin typeface="Arial"/>
              </a:defRPr>
            </a:pPr>
            <a:r>
              <a:t>Caso ficticio</a:t>
            </a:r>
          </a:p>
        </p:txBody>
      </p:sp>
      <p:sp>
        <p:nvSpPr>
          <p:cNvPr id="6" name="Oval 5"/>
          <p:cNvSpPr/>
          <p:nvPr/>
        </p:nvSpPr>
        <p:spPr>
          <a:xfrm>
            <a:off x="1051560" y="2331720"/>
            <a:ext cx="2194560" cy="2194560"/>
          </a:xfrm>
          <a:prstGeom prst="ellipse">
            <a:avLst/>
          </a:pr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4709160" y="2331720"/>
            <a:ext cx="2194560" cy="2194560"/>
          </a:xfrm>
          <a:prstGeom prst="ellipse">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366760" y="2331720"/>
            <a:ext cx="2194560" cy="2194560"/>
          </a:xfrm>
          <a:prstGeom prst="ellipse">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971800"/>
            <a:ext cx="2194560" cy="548640"/>
          </a:xfrm>
          <a:prstGeom prst="rect">
            <a:avLst/>
          </a:prstGeom>
          <a:noFill/>
        </p:spPr>
        <p:txBody>
          <a:bodyPr wrap="none" lIns="0" rIns="0" tIns="0" bIns="0">
            <a:spAutoFit/>
          </a:bodyPr>
          <a:lstStyle/>
          <a:p>
            <a:pPr algn="ctr">
              <a:lnSpc>
                <a:spcPct val="108000"/>
              </a:lnSpc>
              <a:spcAft>
                <a:spcPts val="0"/>
              </a:spcAft>
              <a:defRPr sz="4800" b="1">
                <a:solidFill>
                  <a:srgbClr val="FFFFFF"/>
                </a:solidFill>
                <a:latin typeface="Arial"/>
              </a:defRPr>
            </a:pPr>
            <a:r>
              <a:t>O</a:t>
            </a:r>
          </a:p>
        </p:txBody>
      </p:sp>
      <p:sp>
        <p:nvSpPr>
          <p:cNvPr id="10" name="TextBox 9"/>
          <p:cNvSpPr txBox="1"/>
          <p:nvPr/>
        </p:nvSpPr>
        <p:spPr>
          <a:xfrm>
            <a:off x="4709160" y="2971800"/>
            <a:ext cx="2194560" cy="548640"/>
          </a:xfrm>
          <a:prstGeom prst="rect">
            <a:avLst/>
          </a:prstGeom>
          <a:noFill/>
        </p:spPr>
        <p:txBody>
          <a:bodyPr wrap="none" lIns="0" rIns="0" tIns="0" bIns="0">
            <a:spAutoFit/>
          </a:bodyPr>
          <a:lstStyle/>
          <a:p>
            <a:pPr algn="ctr">
              <a:lnSpc>
                <a:spcPct val="108000"/>
              </a:lnSpc>
              <a:spcAft>
                <a:spcPts val="0"/>
              </a:spcAft>
              <a:defRPr sz="4800" b="1">
                <a:solidFill>
                  <a:srgbClr val="FFFFFF"/>
                </a:solidFill>
                <a:latin typeface="Arial"/>
              </a:defRPr>
            </a:pPr>
            <a:r>
              <a:t>C</a:t>
            </a:r>
          </a:p>
        </p:txBody>
      </p:sp>
      <p:sp>
        <p:nvSpPr>
          <p:cNvPr id="11" name="Rounded Rectangle 10"/>
          <p:cNvSpPr/>
          <p:nvPr/>
        </p:nvSpPr>
        <p:spPr>
          <a:xfrm>
            <a:off x="8823960" y="2880360"/>
            <a:ext cx="1280160" cy="1088136"/>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823960" y="2880360"/>
            <a:ext cx="1280160" cy="256031"/>
          </a:xfrm>
          <a:prstGeom prst="rect">
            <a:avLst/>
          </a:pr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951976" y="3290011"/>
            <a:ext cx="115214" cy="102412"/>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951976" y="3507638"/>
            <a:ext cx="115214" cy="102412"/>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951976" y="3725265"/>
            <a:ext cx="115214" cy="102412"/>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233611" y="3290011"/>
            <a:ext cx="115214" cy="102412"/>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33611" y="3507638"/>
            <a:ext cx="115214" cy="102412"/>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233611" y="3725265"/>
            <a:ext cx="115214" cy="102412"/>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515246" y="3290011"/>
            <a:ext cx="115214" cy="102412"/>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515246" y="3507638"/>
            <a:ext cx="115214" cy="102412"/>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515246" y="3725265"/>
            <a:ext cx="115214" cy="102412"/>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796881" y="3290011"/>
            <a:ext cx="115214" cy="102412"/>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796881" y="3507638"/>
            <a:ext cx="115214" cy="102412"/>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796881" y="3725265"/>
            <a:ext cx="115214" cy="102412"/>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233611" y="3507638"/>
            <a:ext cx="115214" cy="102412"/>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892040"/>
            <a:ext cx="2834640" cy="457200"/>
          </a:xfrm>
          <a:prstGeom prst="rect">
            <a:avLst/>
          </a:prstGeom>
          <a:noFill/>
        </p:spPr>
        <p:txBody>
          <a:bodyPr wrap="none" lIns="0" rIns="0" tIns="0" bIns="0">
            <a:spAutoFit/>
          </a:bodyPr>
          <a:lstStyle/>
          <a:p>
            <a:pPr algn="ctr">
              <a:lnSpc>
                <a:spcPct val="108000"/>
              </a:lnSpc>
              <a:spcAft>
                <a:spcPts val="0"/>
              </a:spcAft>
              <a:defRPr sz="2800" b="1">
                <a:solidFill>
                  <a:srgbClr val="192E30"/>
                </a:solidFill>
                <a:latin typeface="Arial"/>
              </a:defRPr>
            </a:pPr>
            <a:r>
              <a:t>Odoo</a:t>
            </a:r>
          </a:p>
        </p:txBody>
      </p:sp>
      <p:sp>
        <p:nvSpPr>
          <p:cNvPr id="27" name="TextBox 26"/>
          <p:cNvSpPr txBox="1"/>
          <p:nvPr/>
        </p:nvSpPr>
        <p:spPr>
          <a:xfrm>
            <a:off x="4389120" y="4892040"/>
            <a:ext cx="2834640" cy="457200"/>
          </a:xfrm>
          <a:prstGeom prst="rect">
            <a:avLst/>
          </a:prstGeom>
          <a:noFill/>
        </p:spPr>
        <p:txBody>
          <a:bodyPr wrap="none" lIns="0" rIns="0" tIns="0" bIns="0">
            <a:spAutoFit/>
          </a:bodyPr>
          <a:lstStyle/>
          <a:p>
            <a:pPr algn="ctr">
              <a:lnSpc>
                <a:spcPct val="108000"/>
              </a:lnSpc>
              <a:spcAft>
                <a:spcPts val="0"/>
              </a:spcAft>
              <a:defRPr sz="2800" b="1">
                <a:solidFill>
                  <a:srgbClr val="192E30"/>
                </a:solidFill>
                <a:latin typeface="Arial"/>
              </a:defRPr>
            </a:pPr>
            <a:r>
              <a:t>Canva</a:t>
            </a:r>
          </a:p>
        </p:txBody>
      </p:sp>
      <p:sp>
        <p:nvSpPr>
          <p:cNvPr id="28" name="TextBox 27"/>
          <p:cNvSpPr txBox="1"/>
          <p:nvPr/>
        </p:nvSpPr>
        <p:spPr>
          <a:xfrm>
            <a:off x="8046720" y="4892040"/>
            <a:ext cx="2834640" cy="457200"/>
          </a:xfrm>
          <a:prstGeom prst="rect">
            <a:avLst/>
          </a:prstGeom>
          <a:noFill/>
        </p:spPr>
        <p:txBody>
          <a:bodyPr wrap="none" lIns="0" rIns="0" tIns="0" bIns="0">
            <a:spAutoFit/>
          </a:bodyPr>
          <a:lstStyle/>
          <a:p>
            <a:pPr algn="ctr">
              <a:lnSpc>
                <a:spcPct val="108000"/>
              </a:lnSpc>
              <a:spcAft>
                <a:spcPts val="0"/>
              </a:spcAft>
              <a:defRPr sz="2800" b="1">
                <a:solidFill>
                  <a:srgbClr val="192E30"/>
                </a:solidFill>
                <a:latin typeface="Arial"/>
              </a:defRPr>
            </a:pPr>
            <a:r>
              <a:t>Calendario</a:t>
            </a:r>
          </a:p>
        </p:txBody>
      </p:sp>
      <p:sp>
        <p:nvSpPr>
          <p:cNvPr id="29" name="TextBox 28"/>
          <p:cNvSpPr txBox="1"/>
          <p:nvPr/>
        </p:nvSpPr>
        <p:spPr>
          <a:xfrm>
            <a:off x="731520" y="5486400"/>
            <a:ext cx="2834640" cy="365760"/>
          </a:xfrm>
          <a:prstGeom prst="rect">
            <a:avLst/>
          </a:prstGeom>
          <a:noFill/>
        </p:spPr>
        <p:txBody>
          <a:bodyPr wrap="none" lIns="0" rIns="0" tIns="0" bIns="0">
            <a:spAutoFit/>
          </a:bodyPr>
          <a:lstStyle/>
          <a:p>
            <a:pPr algn="ctr">
              <a:lnSpc>
                <a:spcPct val="108000"/>
              </a:lnSpc>
              <a:spcAft>
                <a:spcPts val="0"/>
              </a:spcAft>
              <a:defRPr sz="1500" b="1">
                <a:solidFill>
                  <a:srgbClr val="34675C"/>
                </a:solidFill>
                <a:latin typeface="Arial"/>
              </a:defRPr>
            </a:pPr>
            <a:r>
              <a:t>GESTIÓN</a:t>
            </a:r>
          </a:p>
        </p:txBody>
      </p:sp>
      <p:sp>
        <p:nvSpPr>
          <p:cNvPr id="30" name="TextBox 29"/>
          <p:cNvSpPr txBox="1"/>
          <p:nvPr/>
        </p:nvSpPr>
        <p:spPr>
          <a:xfrm>
            <a:off x="4389120" y="5486400"/>
            <a:ext cx="2834640" cy="365760"/>
          </a:xfrm>
          <a:prstGeom prst="rect">
            <a:avLst/>
          </a:prstGeom>
          <a:noFill/>
        </p:spPr>
        <p:txBody>
          <a:bodyPr wrap="none" lIns="0" rIns="0" tIns="0" bIns="0">
            <a:spAutoFit/>
          </a:bodyPr>
          <a:lstStyle/>
          <a:p>
            <a:pPr algn="ctr">
              <a:lnSpc>
                <a:spcPct val="108000"/>
              </a:lnSpc>
              <a:spcAft>
                <a:spcPts val="0"/>
              </a:spcAft>
              <a:defRPr sz="1500" b="1">
                <a:solidFill>
                  <a:srgbClr val="D65A3A"/>
                </a:solidFill>
                <a:latin typeface="Arial"/>
              </a:defRPr>
            </a:pPr>
            <a:r>
              <a:t>COMUNICACIÓN</a:t>
            </a:r>
          </a:p>
        </p:txBody>
      </p:sp>
      <p:sp>
        <p:nvSpPr>
          <p:cNvPr id="31" name="TextBox 30"/>
          <p:cNvSpPr txBox="1"/>
          <p:nvPr/>
        </p:nvSpPr>
        <p:spPr>
          <a:xfrm>
            <a:off x="8046720" y="5486400"/>
            <a:ext cx="2834640" cy="365760"/>
          </a:xfrm>
          <a:prstGeom prst="rect">
            <a:avLst/>
          </a:prstGeom>
          <a:noFill/>
        </p:spPr>
        <p:txBody>
          <a:bodyPr wrap="none" lIns="0" rIns="0" tIns="0" bIns="0">
            <a:spAutoFit/>
          </a:bodyPr>
          <a:lstStyle/>
          <a:p>
            <a:pPr algn="ctr">
              <a:lnSpc>
                <a:spcPct val="108000"/>
              </a:lnSpc>
              <a:spcAft>
                <a:spcPts val="0"/>
              </a:spcAft>
              <a:defRPr sz="1500" b="1">
                <a:solidFill>
                  <a:srgbClr val="192E30"/>
                </a:solidFill>
                <a:latin typeface="Arial"/>
              </a:defRPr>
            </a:pPr>
            <a:r>
              <a:t>COORDINACIÓN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1E9"/>
        </a:solidFill>
        <a:effectLst/>
      </p:bgPr>
    </p:bg>
    <p:spTree>
      <p:nvGrpSpPr>
        <p:cNvPr id="1" name=""/>
        <p:cNvGrpSpPr/>
        <p:nvPr/>
      </p:nvGrpSpPr>
      <p:grpSpPr/>
      <p:sp>
        <p:nvSpPr>
          <p:cNvPr id="2" name="TextBox 1"/>
          <p:cNvSpPr txBox="1"/>
          <p:nvPr/>
        </p:nvSpPr>
        <p:spPr>
          <a:xfrm>
            <a:off x="548640" y="292608"/>
            <a:ext cx="4572000" cy="210312"/>
          </a:xfrm>
          <a:prstGeom prst="rect">
            <a:avLst/>
          </a:prstGeom>
          <a:noFill/>
        </p:spPr>
        <p:txBody>
          <a:bodyPr wrap="none" lIns="0" rIns="0" tIns="0" bIns="0">
            <a:spAutoFit/>
          </a:bodyPr>
          <a:lstStyle/>
          <a:p>
            <a:pPr>
              <a:lnSpc>
                <a:spcPct val="108000"/>
              </a:lnSpc>
              <a:spcAft>
                <a:spcPts val="0"/>
              </a:spcAft>
              <a:defRPr sz="1000" b="1">
                <a:solidFill>
                  <a:srgbClr val="64716C"/>
                </a:solidFill>
                <a:latin typeface="Arial"/>
              </a:defRPr>
            </a:pPr>
            <a:r>
              <a:t>MODA URBANA</a:t>
            </a:r>
          </a:p>
        </p:txBody>
      </p:sp>
      <p:sp>
        <p:nvSpPr>
          <p:cNvPr id="3" name="TextBox 2"/>
          <p:cNvSpPr txBox="1"/>
          <p:nvPr/>
        </p:nvSpPr>
        <p:spPr>
          <a:xfrm>
            <a:off x="11109960" y="292608"/>
            <a:ext cx="502920" cy="210312"/>
          </a:xfrm>
          <a:prstGeom prst="rect">
            <a:avLst/>
          </a:prstGeom>
          <a:noFill/>
        </p:spPr>
        <p:txBody>
          <a:bodyPr wrap="none" lIns="0" rIns="0" tIns="0" bIns="0">
            <a:spAutoFit/>
          </a:bodyPr>
          <a:lstStyle/>
          <a:p>
            <a:pPr algn="ctr">
              <a:lnSpc>
                <a:spcPct val="108000"/>
              </a:lnSpc>
              <a:spcAft>
                <a:spcPts val="0"/>
              </a:spcAft>
              <a:defRPr sz="1000" b="1">
                <a:solidFill>
                  <a:srgbClr val="64716C"/>
                </a:solidFill>
                <a:latin typeface="Arial"/>
              </a:defRPr>
            </a:pPr>
            <a:r>
              <a:t>10</a:t>
            </a:r>
          </a:p>
        </p:txBody>
      </p:sp>
      <p:sp>
        <p:nvSpPr>
          <p:cNvPr id="4" name="TextBox 3"/>
          <p:cNvSpPr txBox="1"/>
          <p:nvPr/>
        </p:nvSpPr>
        <p:spPr>
          <a:xfrm>
            <a:off x="548640" y="859536"/>
            <a:ext cx="11064240" cy="685800"/>
          </a:xfrm>
          <a:prstGeom prst="rect">
            <a:avLst/>
          </a:prstGeom>
          <a:noFill/>
        </p:spPr>
        <p:txBody>
          <a:bodyPr wrap="none" lIns="0" rIns="0" tIns="0" bIns="0">
            <a:spAutoFit/>
          </a:bodyPr>
          <a:lstStyle/>
          <a:p>
            <a:pPr>
              <a:lnSpc>
                <a:spcPct val="108000"/>
              </a:lnSpc>
              <a:spcAft>
                <a:spcPts val="0"/>
              </a:spcAft>
              <a:defRPr sz="3400" b="1">
                <a:solidFill>
                  <a:srgbClr val="192E30"/>
                </a:solidFill>
                <a:latin typeface="Arial"/>
              </a:defRPr>
            </a:pPr>
            <a:r>
              <a:t>La prueba del cambio</a:t>
            </a:r>
          </a:p>
        </p:txBody>
      </p:sp>
      <p:sp>
        <p:nvSpPr>
          <p:cNvPr id="5" name="TextBox 4"/>
          <p:cNvSpPr txBox="1"/>
          <p:nvPr/>
        </p:nvSpPr>
        <p:spPr>
          <a:xfrm>
            <a:off x="548640" y="6464808"/>
            <a:ext cx="3657600" cy="210312"/>
          </a:xfrm>
          <a:prstGeom prst="rect">
            <a:avLst/>
          </a:prstGeom>
          <a:noFill/>
        </p:spPr>
        <p:txBody>
          <a:bodyPr wrap="none" lIns="0" rIns="0" tIns="0" bIns="0">
            <a:spAutoFit/>
          </a:bodyPr>
          <a:lstStyle/>
          <a:p>
            <a:pPr>
              <a:lnSpc>
                <a:spcPct val="108000"/>
              </a:lnSpc>
              <a:spcAft>
                <a:spcPts val="0"/>
              </a:spcAft>
              <a:defRPr sz="900" b="0">
                <a:solidFill>
                  <a:srgbClr val="64716C"/>
                </a:solidFill>
                <a:latin typeface="Arial"/>
              </a:defRPr>
            </a:pPr>
            <a:r>
              <a:t>Caso ficticio</a:t>
            </a:r>
          </a:p>
        </p:txBody>
      </p:sp>
      <p:sp>
        <p:nvSpPr>
          <p:cNvPr id="6" name="Rounded Rectangle 5"/>
          <p:cNvSpPr/>
          <p:nvPr/>
        </p:nvSpPr>
        <p:spPr>
          <a:xfrm>
            <a:off x="777240" y="2057400"/>
            <a:ext cx="5029200" cy="342900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57400"/>
            <a:ext cx="5029200" cy="377190"/>
          </a:xfrm>
          <a:prstGeom prst="rect">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28115" y="2177415"/>
            <a:ext cx="70408" cy="70408"/>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68933" y="2177415"/>
            <a:ext cx="70408" cy="70408"/>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09751" y="2177415"/>
            <a:ext cx="70408" cy="70408"/>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03553" y="2674620"/>
            <a:ext cx="1860804" cy="2468879"/>
          </a:xfrm>
          <a:prstGeom prst="roundRect">
            <a:avLst>
              <a:gd name="adj" fmla="val 13000"/>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1153468" y="3076524"/>
            <a:ext cx="1508100" cy="1447776"/>
          </a:xfrm>
          <a:custGeom>
            <a:avLst/>
            <a:gdLst/>
            <a:ahLst/>
            <a:cxnLst/>
            <a:rect l="l" t="t" r="r" b="b"/>
            <a:pathLst>
              <a:path w="1650" h="1584">
                <a:moveTo>
                  <a:pt x="149" y="264"/>
                </a:moveTo>
                <a:lnTo>
                  <a:pt x="562" y="0"/>
                </a:lnTo>
                <a:lnTo>
                  <a:pt x="710" y="132"/>
                </a:lnTo>
                <a:lnTo>
                  <a:pt x="941" y="132"/>
                </a:lnTo>
                <a:lnTo>
                  <a:pt x="1089" y="0"/>
                </a:lnTo>
                <a:lnTo>
                  <a:pt x="1502" y="264"/>
                </a:lnTo>
                <a:lnTo>
                  <a:pt x="1650" y="610"/>
                </a:lnTo>
                <a:lnTo>
                  <a:pt x="1304" y="759"/>
                </a:lnTo>
                <a:lnTo>
                  <a:pt x="1205" y="544"/>
                </a:lnTo>
                <a:lnTo>
                  <a:pt x="1205" y="1584"/>
                </a:lnTo>
                <a:lnTo>
                  <a:pt x="446" y="1584"/>
                </a:lnTo>
                <a:lnTo>
                  <a:pt x="446" y="544"/>
                </a:lnTo>
                <a:lnTo>
                  <a:pt x="347" y="759"/>
                </a:lnTo>
                <a:lnTo>
                  <a:pt x="0" y="610"/>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803196" y="3213658"/>
            <a:ext cx="211227"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191256" y="2708910"/>
            <a:ext cx="653796" cy="960120"/>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3240130" y="2831572"/>
            <a:ext cx="527378" cy="507270"/>
          </a:xfrm>
          <a:custGeom>
            <a:avLst/>
            <a:gdLst/>
            <a:ahLst/>
            <a:cxnLst/>
            <a:rect l="l" t="t" r="r" b="b"/>
            <a:pathLst>
              <a:path w="577" h="555">
                <a:moveTo>
                  <a:pt x="52" y="92"/>
                </a:moveTo>
                <a:lnTo>
                  <a:pt x="196" y="0"/>
                </a:lnTo>
                <a:lnTo>
                  <a:pt x="248" y="46"/>
                </a:lnTo>
                <a:lnTo>
                  <a:pt x="329" y="46"/>
                </a:lnTo>
                <a:lnTo>
                  <a:pt x="381" y="0"/>
                </a:lnTo>
                <a:lnTo>
                  <a:pt x="526" y="92"/>
                </a:lnTo>
                <a:lnTo>
                  <a:pt x="577" y="214"/>
                </a:lnTo>
                <a:lnTo>
                  <a:pt x="456" y="266"/>
                </a:lnTo>
                <a:lnTo>
                  <a:pt x="422" y="191"/>
                </a:lnTo>
                <a:lnTo>
                  <a:pt x="422" y="555"/>
                </a:lnTo>
                <a:lnTo>
                  <a:pt x="156" y="555"/>
                </a:lnTo>
                <a:lnTo>
                  <a:pt x="156" y="191"/>
                </a:lnTo>
                <a:lnTo>
                  <a:pt x="121" y="266"/>
                </a:lnTo>
                <a:lnTo>
                  <a:pt x="0" y="214"/>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3468616" y="2880428"/>
            <a:ext cx="73929"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995928" y="2708910"/>
            <a:ext cx="653796" cy="960120"/>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4044450" y="2831572"/>
            <a:ext cx="527378" cy="507270"/>
          </a:xfrm>
          <a:custGeom>
            <a:avLst/>
            <a:gdLst/>
            <a:ahLst/>
            <a:cxnLst/>
            <a:rect l="l" t="t" r="r" b="b"/>
            <a:pathLst>
              <a:path w="577" h="555">
                <a:moveTo>
                  <a:pt x="52" y="92"/>
                </a:moveTo>
                <a:lnTo>
                  <a:pt x="196" y="0"/>
                </a:lnTo>
                <a:lnTo>
                  <a:pt x="248" y="46"/>
                </a:lnTo>
                <a:lnTo>
                  <a:pt x="329" y="46"/>
                </a:lnTo>
                <a:lnTo>
                  <a:pt x="381" y="0"/>
                </a:lnTo>
                <a:lnTo>
                  <a:pt x="526" y="92"/>
                </a:lnTo>
                <a:lnTo>
                  <a:pt x="577" y="214"/>
                </a:lnTo>
                <a:lnTo>
                  <a:pt x="456" y="266"/>
                </a:lnTo>
                <a:lnTo>
                  <a:pt x="422" y="191"/>
                </a:lnTo>
                <a:lnTo>
                  <a:pt x="422" y="555"/>
                </a:lnTo>
                <a:lnTo>
                  <a:pt x="156" y="555"/>
                </a:lnTo>
                <a:lnTo>
                  <a:pt x="156" y="191"/>
                </a:lnTo>
                <a:lnTo>
                  <a:pt x="121" y="266"/>
                </a:lnTo>
                <a:lnTo>
                  <a:pt x="0" y="214"/>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4273288" y="2880428"/>
            <a:ext cx="73929"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800600" y="2708910"/>
            <a:ext cx="653796" cy="960120"/>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4848770" y="2831572"/>
            <a:ext cx="527378" cy="507270"/>
          </a:xfrm>
          <a:custGeom>
            <a:avLst/>
            <a:gdLst/>
            <a:ahLst/>
            <a:cxnLst/>
            <a:rect l="l" t="t" r="r" b="b"/>
            <a:pathLst>
              <a:path w="577" h="555">
                <a:moveTo>
                  <a:pt x="52" y="92"/>
                </a:moveTo>
                <a:lnTo>
                  <a:pt x="196" y="0"/>
                </a:lnTo>
                <a:lnTo>
                  <a:pt x="248" y="46"/>
                </a:lnTo>
                <a:lnTo>
                  <a:pt x="329" y="46"/>
                </a:lnTo>
                <a:lnTo>
                  <a:pt x="381" y="0"/>
                </a:lnTo>
                <a:lnTo>
                  <a:pt x="526" y="92"/>
                </a:lnTo>
                <a:lnTo>
                  <a:pt x="577" y="214"/>
                </a:lnTo>
                <a:lnTo>
                  <a:pt x="456" y="266"/>
                </a:lnTo>
                <a:lnTo>
                  <a:pt x="422" y="191"/>
                </a:lnTo>
                <a:lnTo>
                  <a:pt x="422" y="555"/>
                </a:lnTo>
                <a:lnTo>
                  <a:pt x="156" y="555"/>
                </a:lnTo>
                <a:lnTo>
                  <a:pt x="156" y="191"/>
                </a:lnTo>
                <a:lnTo>
                  <a:pt x="121" y="266"/>
                </a:lnTo>
                <a:lnTo>
                  <a:pt x="0" y="214"/>
                </a:lnTo>
                <a:close/>
              </a:path>
            </a:pathLst>
          </a:custGeom>
          <a:solidFill>
            <a:srgbClr val="64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5077960" y="2880428"/>
            <a:ext cx="73929"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3191256" y="3909060"/>
            <a:ext cx="2011680" cy="92583"/>
          </a:xfrm>
          <a:prstGeom prst="rect">
            <a:avLst/>
          </a:prstGeom>
          <a:solidFill>
            <a:srgbClr val="D6D9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91256" y="4149089"/>
            <a:ext cx="1408176" cy="92583"/>
          </a:xfrm>
          <a:prstGeom prst="rect">
            <a:avLst/>
          </a:prstGeom>
          <a:solidFill>
            <a:srgbClr val="D6D9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191256" y="4491990"/>
            <a:ext cx="326898" cy="274320"/>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91256" y="4543425"/>
            <a:ext cx="326898" cy="240030"/>
          </a:xfrm>
          <a:prstGeom prst="rect">
            <a:avLst/>
          </a:prstGeom>
          <a:noFill/>
        </p:spPr>
        <p:txBody>
          <a:bodyPr wrap="none" lIns="0" rIns="0" tIns="0" bIns="0">
            <a:spAutoFit/>
          </a:bodyPr>
          <a:lstStyle/>
          <a:p>
            <a:pPr algn="ctr">
              <a:lnSpc>
                <a:spcPct val="108000"/>
              </a:lnSpc>
              <a:spcAft>
                <a:spcPts val="0"/>
              </a:spcAft>
              <a:defRPr sz="1000" b="1">
                <a:solidFill>
                  <a:srgbClr val="192E30"/>
                </a:solidFill>
                <a:latin typeface="Arial"/>
              </a:defRPr>
            </a:pPr>
            <a:r>
              <a:t>S</a:t>
            </a:r>
          </a:p>
        </p:txBody>
      </p:sp>
      <p:sp>
        <p:nvSpPr>
          <p:cNvPr id="27" name="Rectangle 26"/>
          <p:cNvSpPr/>
          <p:nvPr/>
        </p:nvSpPr>
        <p:spPr>
          <a:xfrm>
            <a:off x="3618738" y="4491990"/>
            <a:ext cx="326898" cy="274320"/>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18738" y="4543425"/>
            <a:ext cx="326898" cy="240030"/>
          </a:xfrm>
          <a:prstGeom prst="rect">
            <a:avLst/>
          </a:prstGeom>
          <a:noFill/>
        </p:spPr>
        <p:txBody>
          <a:bodyPr wrap="none" lIns="0" rIns="0" tIns="0" bIns="0">
            <a:spAutoFit/>
          </a:bodyPr>
          <a:lstStyle/>
          <a:p>
            <a:pPr algn="ctr">
              <a:lnSpc>
                <a:spcPct val="108000"/>
              </a:lnSpc>
              <a:spcAft>
                <a:spcPts val="0"/>
              </a:spcAft>
              <a:defRPr sz="1000" b="1">
                <a:solidFill>
                  <a:srgbClr val="192E30"/>
                </a:solidFill>
                <a:latin typeface="Arial"/>
              </a:defRPr>
            </a:pPr>
            <a:r>
              <a:t>M</a:t>
            </a:r>
          </a:p>
        </p:txBody>
      </p:sp>
      <p:sp>
        <p:nvSpPr>
          <p:cNvPr id="29" name="Rectangle 28"/>
          <p:cNvSpPr/>
          <p:nvPr/>
        </p:nvSpPr>
        <p:spPr>
          <a:xfrm>
            <a:off x="4046220" y="4491990"/>
            <a:ext cx="326898" cy="274320"/>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46220" y="4543425"/>
            <a:ext cx="326898" cy="240030"/>
          </a:xfrm>
          <a:prstGeom prst="rect">
            <a:avLst/>
          </a:prstGeom>
          <a:noFill/>
        </p:spPr>
        <p:txBody>
          <a:bodyPr wrap="none" lIns="0" rIns="0" tIns="0" bIns="0">
            <a:spAutoFit/>
          </a:bodyPr>
          <a:lstStyle/>
          <a:p>
            <a:pPr algn="ctr">
              <a:lnSpc>
                <a:spcPct val="108000"/>
              </a:lnSpc>
              <a:spcAft>
                <a:spcPts val="0"/>
              </a:spcAft>
              <a:defRPr sz="1000" b="1">
                <a:solidFill>
                  <a:srgbClr val="192E30"/>
                </a:solidFill>
                <a:latin typeface="Arial"/>
              </a:defRPr>
            </a:pPr>
            <a:r>
              <a:t>L</a:t>
            </a:r>
          </a:p>
        </p:txBody>
      </p:sp>
      <p:sp>
        <p:nvSpPr>
          <p:cNvPr id="31" name="Rounded Rectangle 30"/>
          <p:cNvSpPr/>
          <p:nvPr/>
        </p:nvSpPr>
        <p:spPr>
          <a:xfrm>
            <a:off x="3191256" y="4937760"/>
            <a:ext cx="2011680" cy="274320"/>
          </a:xfrm>
          <a:prstGeom prst="roundRect">
            <a:avLst>
              <a:gd name="adj" fmla="val 13000"/>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5989320" y="3749039"/>
            <a:ext cx="731520" cy="0"/>
          </a:xfrm>
          <a:prstGeom prst="line">
            <a:avLst/>
          </a:prstGeom>
          <a:ln w="38100">
            <a:solidFill>
              <a:srgbClr val="D65A3A"/>
            </a:solidFill>
          </a:ln>
        </p:spPr>
        <p:style>
          <a:lnRef idx="2">
            <a:schemeClr val="accent1"/>
          </a:lnRef>
          <a:fillRef idx="0">
            <a:schemeClr val="accent1"/>
          </a:fillRef>
          <a:effectRef idx="1">
            <a:schemeClr val="accent1"/>
          </a:effectRef>
          <a:fontRef idx="minor">
            <a:schemeClr val="tx1"/>
          </a:fontRef>
        </p:style>
      </p:cxnSp>
      <p:sp>
        <p:nvSpPr>
          <p:cNvPr id="33" name="Freeform 32"/>
          <p:cNvSpPr/>
          <p:nvPr/>
        </p:nvSpPr>
        <p:spPr>
          <a:xfrm>
            <a:off x="6535100" y="3628580"/>
            <a:ext cx="274200" cy="237640"/>
          </a:xfrm>
          <a:custGeom>
            <a:avLst/>
            <a:gdLst/>
            <a:ahLst/>
            <a:cxnLst/>
            <a:rect l="l" t="t" r="r" b="b"/>
            <a:pathLst>
              <a:path w="300" h="260">
                <a:moveTo>
                  <a:pt x="0" y="0"/>
                </a:moveTo>
                <a:lnTo>
                  <a:pt x="300" y="130"/>
                </a:lnTo>
                <a:lnTo>
                  <a:pt x="0" y="260"/>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132320" y="2468880"/>
            <a:ext cx="4114800" cy="2606040"/>
          </a:xfrm>
          <a:prstGeom prst="roundRect">
            <a:avLst>
              <a:gd name="adj" fmla="val 13000"/>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60920" y="2834640"/>
            <a:ext cx="3657600" cy="411480"/>
          </a:xfrm>
          <a:prstGeom prst="rect">
            <a:avLst/>
          </a:prstGeom>
          <a:noFill/>
        </p:spPr>
        <p:txBody>
          <a:bodyPr wrap="none" lIns="0" rIns="0" tIns="0" bIns="0">
            <a:spAutoFit/>
          </a:bodyPr>
          <a:lstStyle/>
          <a:p>
            <a:pPr algn="ctr">
              <a:lnSpc>
                <a:spcPct val="108000"/>
              </a:lnSpc>
              <a:spcAft>
                <a:spcPts val="0"/>
              </a:spcAft>
              <a:defRPr sz="2800" b="1">
                <a:solidFill>
                  <a:srgbClr val="34675C"/>
                </a:solidFill>
                <a:latin typeface="Arial"/>
              </a:defRPr>
            </a:pPr>
            <a:r>
              <a:t>PEDIDO +1</a:t>
            </a:r>
          </a:p>
        </p:txBody>
      </p:sp>
      <p:cxnSp>
        <p:nvCxnSpPr>
          <p:cNvPr id="36" name="Connector 35"/>
          <p:cNvCxnSpPr/>
          <p:nvPr/>
        </p:nvCxnSpPr>
        <p:spPr>
          <a:xfrm>
            <a:off x="7516368" y="3611880"/>
            <a:ext cx="3337560" cy="0"/>
          </a:xfrm>
          <a:prstGeom prst="line">
            <a:avLst/>
          </a:prstGeom>
          <a:ln w="25400">
            <a:solidFill>
              <a:srgbClr val="D6D9CD"/>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360920" y="3977639"/>
            <a:ext cx="3657600" cy="411480"/>
          </a:xfrm>
          <a:prstGeom prst="rect">
            <a:avLst/>
          </a:prstGeom>
          <a:noFill/>
        </p:spPr>
        <p:txBody>
          <a:bodyPr wrap="none" lIns="0" rIns="0" tIns="0" bIns="0">
            <a:spAutoFit/>
          </a:bodyPr>
          <a:lstStyle/>
          <a:p>
            <a:pPr algn="ctr">
              <a:lnSpc>
                <a:spcPct val="108000"/>
              </a:lnSpc>
              <a:spcAft>
                <a:spcPts val="0"/>
              </a:spcAft>
              <a:defRPr sz="2800" b="1">
                <a:solidFill>
                  <a:srgbClr val="D65A3A"/>
                </a:solidFill>
                <a:latin typeface="Arial"/>
              </a:defRPr>
            </a:pPr>
            <a:r>
              <a:t>STOCK −1</a:t>
            </a:r>
          </a:p>
        </p:txBody>
      </p:sp>
      <p:sp>
        <p:nvSpPr>
          <p:cNvPr id="38" name="TextBox 37"/>
          <p:cNvSpPr txBox="1"/>
          <p:nvPr/>
        </p:nvSpPr>
        <p:spPr>
          <a:xfrm>
            <a:off x="777240" y="5806440"/>
            <a:ext cx="10515600" cy="320040"/>
          </a:xfrm>
          <a:prstGeom prst="rect">
            <a:avLst/>
          </a:prstGeom>
          <a:noFill/>
        </p:spPr>
        <p:txBody>
          <a:bodyPr wrap="none" lIns="0" rIns="0" tIns="0" bIns="0">
            <a:spAutoFit/>
          </a:bodyPr>
          <a:lstStyle/>
          <a:p>
            <a:pPr algn="ctr">
              <a:lnSpc>
                <a:spcPct val="108000"/>
              </a:lnSpc>
              <a:spcAft>
                <a:spcPts val="0"/>
              </a:spcAft>
              <a:defRPr sz="1600" b="1">
                <a:solidFill>
                  <a:srgbClr val="64716C"/>
                </a:solidFill>
                <a:latin typeface="Arial"/>
              </a:defRPr>
            </a:pPr>
            <a:r>
              <a:t>DEMO LOCAL · SIN COBROS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1E9"/>
        </a:solidFill>
        <a:effectLst/>
      </p:bgPr>
    </p:bg>
    <p:spTree>
      <p:nvGrpSpPr>
        <p:cNvPr id="1" name=""/>
        <p:cNvGrpSpPr/>
        <p:nvPr/>
      </p:nvGrpSpPr>
      <p:grpSpPr/>
      <p:sp>
        <p:nvSpPr>
          <p:cNvPr id="2" name="TextBox 1"/>
          <p:cNvSpPr txBox="1"/>
          <p:nvPr/>
        </p:nvSpPr>
        <p:spPr>
          <a:xfrm>
            <a:off x="548640" y="292608"/>
            <a:ext cx="4572000" cy="210312"/>
          </a:xfrm>
          <a:prstGeom prst="rect">
            <a:avLst/>
          </a:prstGeom>
          <a:noFill/>
        </p:spPr>
        <p:txBody>
          <a:bodyPr wrap="none" lIns="0" rIns="0" tIns="0" bIns="0">
            <a:spAutoFit/>
          </a:bodyPr>
          <a:lstStyle/>
          <a:p>
            <a:pPr>
              <a:lnSpc>
                <a:spcPct val="108000"/>
              </a:lnSpc>
              <a:spcAft>
                <a:spcPts val="0"/>
              </a:spcAft>
              <a:defRPr sz="1000" b="1">
                <a:solidFill>
                  <a:srgbClr val="64716C"/>
                </a:solidFill>
                <a:latin typeface="Arial"/>
              </a:defRPr>
            </a:pPr>
            <a:r>
              <a:t>MODA URBANA</a:t>
            </a:r>
          </a:p>
        </p:txBody>
      </p:sp>
      <p:sp>
        <p:nvSpPr>
          <p:cNvPr id="3" name="TextBox 2"/>
          <p:cNvSpPr txBox="1"/>
          <p:nvPr/>
        </p:nvSpPr>
        <p:spPr>
          <a:xfrm>
            <a:off x="11109960" y="292608"/>
            <a:ext cx="502920" cy="210312"/>
          </a:xfrm>
          <a:prstGeom prst="rect">
            <a:avLst/>
          </a:prstGeom>
          <a:noFill/>
        </p:spPr>
        <p:txBody>
          <a:bodyPr wrap="none" lIns="0" rIns="0" tIns="0" bIns="0">
            <a:spAutoFit/>
          </a:bodyPr>
          <a:lstStyle/>
          <a:p>
            <a:pPr algn="ctr">
              <a:lnSpc>
                <a:spcPct val="108000"/>
              </a:lnSpc>
              <a:spcAft>
                <a:spcPts val="0"/>
              </a:spcAft>
              <a:defRPr sz="1000" b="1">
                <a:solidFill>
                  <a:srgbClr val="64716C"/>
                </a:solidFill>
                <a:latin typeface="Arial"/>
              </a:defRPr>
            </a:pPr>
            <a:r>
              <a:t>11</a:t>
            </a:r>
          </a:p>
        </p:txBody>
      </p:sp>
      <p:sp>
        <p:nvSpPr>
          <p:cNvPr id="4" name="TextBox 3"/>
          <p:cNvSpPr txBox="1"/>
          <p:nvPr/>
        </p:nvSpPr>
        <p:spPr>
          <a:xfrm>
            <a:off x="548640" y="859536"/>
            <a:ext cx="11064240" cy="685800"/>
          </a:xfrm>
          <a:prstGeom prst="rect">
            <a:avLst/>
          </a:prstGeom>
          <a:noFill/>
        </p:spPr>
        <p:txBody>
          <a:bodyPr wrap="none" lIns="0" rIns="0" tIns="0" bIns="0">
            <a:spAutoFit/>
          </a:bodyPr>
          <a:lstStyle/>
          <a:p>
            <a:pPr>
              <a:lnSpc>
                <a:spcPct val="108000"/>
              </a:lnSpc>
              <a:spcAft>
                <a:spcPts val="0"/>
              </a:spcAft>
              <a:defRPr sz="3400" b="1">
                <a:solidFill>
                  <a:srgbClr val="192E30"/>
                </a:solidFill>
                <a:latin typeface="Arial"/>
              </a:defRPr>
            </a:pPr>
            <a:r>
              <a:t>Mejoras que hay que comprobar</a:t>
            </a:r>
          </a:p>
        </p:txBody>
      </p:sp>
      <p:sp>
        <p:nvSpPr>
          <p:cNvPr id="5" name="TextBox 4"/>
          <p:cNvSpPr txBox="1"/>
          <p:nvPr/>
        </p:nvSpPr>
        <p:spPr>
          <a:xfrm>
            <a:off x="548640" y="6464808"/>
            <a:ext cx="3657600" cy="210312"/>
          </a:xfrm>
          <a:prstGeom prst="rect">
            <a:avLst/>
          </a:prstGeom>
          <a:noFill/>
        </p:spPr>
        <p:txBody>
          <a:bodyPr wrap="none" lIns="0" rIns="0" tIns="0" bIns="0">
            <a:spAutoFit/>
          </a:bodyPr>
          <a:lstStyle/>
          <a:p>
            <a:pPr>
              <a:lnSpc>
                <a:spcPct val="108000"/>
              </a:lnSpc>
              <a:spcAft>
                <a:spcPts val="0"/>
              </a:spcAft>
              <a:defRPr sz="900" b="0">
                <a:solidFill>
                  <a:srgbClr val="64716C"/>
                </a:solidFill>
                <a:latin typeface="Arial"/>
              </a:defRPr>
            </a:pPr>
            <a:r>
              <a:t>Caso ficticio</a:t>
            </a:r>
          </a:p>
        </p:txBody>
      </p:sp>
      <p:sp>
        <p:nvSpPr>
          <p:cNvPr id="6" name="Oval 5"/>
          <p:cNvSpPr/>
          <p:nvPr/>
        </p:nvSpPr>
        <p:spPr>
          <a:xfrm>
            <a:off x="1143000" y="2377440"/>
            <a:ext cx="2103120" cy="2103120"/>
          </a:xfrm>
          <a:prstGeom prst="ellipse">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07008" y="2441448"/>
            <a:ext cx="1975103" cy="1975103"/>
          </a:xfrm>
          <a:prstGeom prst="ellipse">
            <a:avLst/>
          </a:prstGeom>
          <a:solidFill>
            <a:srgbClr val="F5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flipV="1">
            <a:off x="2194560" y="2798064"/>
            <a:ext cx="0" cy="630936"/>
          </a:xfrm>
          <a:prstGeom prst="line">
            <a:avLst/>
          </a:prstGeom>
          <a:ln w="38100">
            <a:solidFill>
              <a:srgbClr val="192E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94560" y="3429000"/>
            <a:ext cx="546811" cy="315468"/>
          </a:xfrm>
          <a:prstGeom prst="line">
            <a:avLst/>
          </a:prstGeom>
          <a:ln w="38100">
            <a:solidFill>
              <a:srgbClr val="192E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029200" y="2377440"/>
            <a:ext cx="2103120" cy="2103120"/>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596128" y="3458718"/>
            <a:ext cx="307238" cy="316839"/>
          </a:xfrm>
          <a:prstGeom prst="line">
            <a:avLst/>
          </a:prstGeom>
          <a:ln w="63500">
            <a:solidFill>
              <a:srgbClr val="34675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5903366" y="3026664"/>
            <a:ext cx="652882" cy="748893"/>
          </a:xfrm>
          <a:prstGeom prst="line">
            <a:avLst/>
          </a:prstGeom>
          <a:ln w="63500">
            <a:solidFill>
              <a:srgbClr val="34675C"/>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8732520" y="2971800"/>
            <a:ext cx="411480" cy="1508760"/>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326880" y="2606040"/>
            <a:ext cx="411480" cy="1874519"/>
          </a:xfrm>
          <a:prstGeom prst="rect">
            <a:avLst/>
          </a:pr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921240" y="2057400"/>
            <a:ext cx="411480" cy="2423160"/>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5029200"/>
            <a:ext cx="3017520" cy="457200"/>
          </a:xfrm>
          <a:prstGeom prst="rect">
            <a:avLst/>
          </a:prstGeom>
          <a:noFill/>
        </p:spPr>
        <p:txBody>
          <a:bodyPr wrap="none" lIns="0" rIns="0" tIns="0" bIns="0">
            <a:spAutoFit/>
          </a:bodyPr>
          <a:lstStyle/>
          <a:p>
            <a:pPr algn="ctr">
              <a:lnSpc>
                <a:spcPct val="108000"/>
              </a:lnSpc>
              <a:spcAft>
                <a:spcPts val="0"/>
              </a:spcAft>
              <a:defRPr sz="2400" b="1">
                <a:solidFill>
                  <a:srgbClr val="192E30"/>
                </a:solidFill>
                <a:latin typeface="Arial"/>
              </a:defRPr>
            </a:pPr>
            <a:r>
              <a:t>TIEMPO</a:t>
            </a:r>
          </a:p>
        </p:txBody>
      </p:sp>
      <p:sp>
        <p:nvSpPr>
          <p:cNvPr id="17" name="TextBox 16"/>
          <p:cNvSpPr txBox="1"/>
          <p:nvPr/>
        </p:nvSpPr>
        <p:spPr>
          <a:xfrm>
            <a:off x="4526280" y="5029200"/>
            <a:ext cx="3017520" cy="457200"/>
          </a:xfrm>
          <a:prstGeom prst="rect">
            <a:avLst/>
          </a:prstGeom>
          <a:noFill/>
        </p:spPr>
        <p:txBody>
          <a:bodyPr wrap="none" lIns="0" rIns="0" tIns="0" bIns="0">
            <a:spAutoFit/>
          </a:bodyPr>
          <a:lstStyle/>
          <a:p>
            <a:pPr algn="ctr">
              <a:lnSpc>
                <a:spcPct val="108000"/>
              </a:lnSpc>
              <a:spcAft>
                <a:spcPts val="0"/>
              </a:spcAft>
              <a:defRPr sz="2400" b="1">
                <a:solidFill>
                  <a:srgbClr val="192E30"/>
                </a:solidFill>
                <a:latin typeface="Arial"/>
              </a:defRPr>
            </a:pPr>
            <a:r>
              <a:t>ERRORES</a:t>
            </a:r>
          </a:p>
        </p:txBody>
      </p:sp>
      <p:sp>
        <p:nvSpPr>
          <p:cNvPr id="18" name="TextBox 17"/>
          <p:cNvSpPr txBox="1"/>
          <p:nvPr/>
        </p:nvSpPr>
        <p:spPr>
          <a:xfrm>
            <a:off x="8229600" y="5029200"/>
            <a:ext cx="3017520" cy="457200"/>
          </a:xfrm>
          <a:prstGeom prst="rect">
            <a:avLst/>
          </a:prstGeom>
          <a:noFill/>
        </p:spPr>
        <p:txBody>
          <a:bodyPr wrap="none" lIns="0" rIns="0" tIns="0" bIns="0">
            <a:spAutoFit/>
          </a:bodyPr>
          <a:lstStyle/>
          <a:p>
            <a:pPr algn="ctr">
              <a:lnSpc>
                <a:spcPct val="108000"/>
              </a:lnSpc>
              <a:spcAft>
                <a:spcPts val="0"/>
              </a:spcAft>
              <a:defRPr sz="2400" b="1">
                <a:solidFill>
                  <a:srgbClr val="192E30"/>
                </a:solidFill>
                <a:latin typeface="Arial"/>
              </a:defRPr>
            </a:pPr>
            <a:r>
              <a:t>VENTAS</a:t>
            </a:r>
          </a:p>
        </p:txBody>
      </p:sp>
      <p:sp>
        <p:nvSpPr>
          <p:cNvPr id="19" name="TextBox 18"/>
          <p:cNvSpPr txBox="1"/>
          <p:nvPr/>
        </p:nvSpPr>
        <p:spPr>
          <a:xfrm>
            <a:off x="731520" y="5760720"/>
            <a:ext cx="10698480" cy="365760"/>
          </a:xfrm>
          <a:prstGeom prst="rect">
            <a:avLst/>
          </a:prstGeom>
          <a:noFill/>
        </p:spPr>
        <p:txBody>
          <a:bodyPr wrap="none" lIns="0" rIns="0" tIns="0" bIns="0">
            <a:spAutoFit/>
          </a:bodyPr>
          <a:lstStyle/>
          <a:p>
            <a:pPr algn="ctr">
              <a:lnSpc>
                <a:spcPct val="108000"/>
              </a:lnSpc>
              <a:spcAft>
                <a:spcPts val="0"/>
              </a:spcAft>
              <a:defRPr sz="1800" b="1">
                <a:solidFill>
                  <a:srgbClr val="34675C"/>
                </a:solidFill>
                <a:latin typeface="Arial"/>
              </a:defRPr>
            </a:pPr>
            <a:r>
              <a:t>COMPARAR ANTES Y DESPUÉS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92E30"/>
        </a:solidFill>
        <a:effectLst/>
      </p:bgPr>
    </p:bg>
    <p:spTree>
      <p:nvGrpSpPr>
        <p:cNvPr id="1" name=""/>
        <p:cNvGrpSpPr/>
        <p:nvPr/>
      </p:nvGrpSpPr>
      <p:grpSpPr/>
      <p:sp>
        <p:nvSpPr>
          <p:cNvPr id="2" name="TextBox 1"/>
          <p:cNvSpPr txBox="1"/>
          <p:nvPr/>
        </p:nvSpPr>
        <p:spPr>
          <a:xfrm>
            <a:off x="548640" y="292608"/>
            <a:ext cx="4572000" cy="210312"/>
          </a:xfrm>
          <a:prstGeom prst="rect">
            <a:avLst/>
          </a:prstGeom>
          <a:noFill/>
        </p:spPr>
        <p:txBody>
          <a:bodyPr wrap="none" lIns="0" rIns="0" tIns="0" bIns="0">
            <a:spAutoFit/>
          </a:bodyPr>
          <a:lstStyle/>
          <a:p>
            <a:pPr>
              <a:lnSpc>
                <a:spcPct val="108000"/>
              </a:lnSpc>
              <a:spcAft>
                <a:spcPts val="0"/>
              </a:spcAft>
              <a:defRPr sz="1000" b="1">
                <a:solidFill>
                  <a:srgbClr val="DFE8DD"/>
                </a:solidFill>
                <a:latin typeface="Arial"/>
              </a:defRPr>
            </a:pPr>
            <a:r>
              <a:t>MODA URBANA</a:t>
            </a:r>
          </a:p>
        </p:txBody>
      </p:sp>
      <p:sp>
        <p:nvSpPr>
          <p:cNvPr id="3" name="TextBox 2"/>
          <p:cNvSpPr txBox="1"/>
          <p:nvPr/>
        </p:nvSpPr>
        <p:spPr>
          <a:xfrm>
            <a:off x="11109960" y="292608"/>
            <a:ext cx="502920" cy="210312"/>
          </a:xfrm>
          <a:prstGeom prst="rect">
            <a:avLst/>
          </a:prstGeom>
          <a:noFill/>
        </p:spPr>
        <p:txBody>
          <a:bodyPr wrap="none" lIns="0" rIns="0" tIns="0" bIns="0">
            <a:spAutoFit/>
          </a:bodyPr>
          <a:lstStyle/>
          <a:p>
            <a:pPr algn="ctr">
              <a:lnSpc>
                <a:spcPct val="108000"/>
              </a:lnSpc>
              <a:spcAft>
                <a:spcPts val="0"/>
              </a:spcAft>
              <a:defRPr sz="1000" b="1">
                <a:solidFill>
                  <a:srgbClr val="DFE8DD"/>
                </a:solidFill>
                <a:latin typeface="Arial"/>
              </a:defRPr>
            </a:pPr>
            <a:r>
              <a:t>12</a:t>
            </a:r>
          </a:p>
        </p:txBody>
      </p:sp>
      <p:sp>
        <p:nvSpPr>
          <p:cNvPr id="4" name="TextBox 3"/>
          <p:cNvSpPr txBox="1"/>
          <p:nvPr/>
        </p:nvSpPr>
        <p:spPr>
          <a:xfrm>
            <a:off x="548640" y="6464808"/>
            <a:ext cx="3657600" cy="210312"/>
          </a:xfrm>
          <a:prstGeom prst="rect">
            <a:avLst/>
          </a:prstGeom>
          <a:noFill/>
        </p:spPr>
        <p:txBody>
          <a:bodyPr wrap="none" lIns="0" rIns="0" tIns="0" bIns="0">
            <a:spAutoFit/>
          </a:bodyPr>
          <a:lstStyle/>
          <a:p>
            <a:pPr>
              <a:lnSpc>
                <a:spcPct val="108000"/>
              </a:lnSpc>
              <a:spcAft>
                <a:spcPts val="0"/>
              </a:spcAft>
              <a:defRPr sz="900" b="0">
                <a:solidFill>
                  <a:srgbClr val="DFE8DD"/>
                </a:solidFill>
                <a:latin typeface="Arial"/>
              </a:defRPr>
            </a:pPr>
            <a:r>
              <a:t>Caso ficticio</a:t>
            </a:r>
          </a:p>
        </p:txBody>
      </p:sp>
      <p:sp>
        <p:nvSpPr>
          <p:cNvPr id="5" name="TextBox 4"/>
          <p:cNvSpPr txBox="1"/>
          <p:nvPr/>
        </p:nvSpPr>
        <p:spPr>
          <a:xfrm>
            <a:off x="640080" y="914400"/>
            <a:ext cx="10789920" cy="1280160"/>
          </a:xfrm>
          <a:prstGeom prst="rect">
            <a:avLst/>
          </a:prstGeom>
          <a:noFill/>
        </p:spPr>
        <p:txBody>
          <a:bodyPr wrap="none" lIns="0" rIns="0" tIns="0" bIns="0">
            <a:spAutoFit/>
          </a:bodyPr>
          <a:lstStyle/>
          <a:p>
            <a:pPr>
              <a:lnSpc>
                <a:spcPct val="108000"/>
              </a:lnSpc>
              <a:spcAft>
                <a:spcPts val="0"/>
              </a:spcAft>
              <a:defRPr sz="4800" b="1">
                <a:solidFill>
                  <a:srgbClr val="FFFFFF"/>
                </a:solidFill>
                <a:latin typeface="Arial"/>
              </a:defRPr>
            </a:pPr>
            <a:r>
              <a:t>Digitalizar es</a:t>
            </a:r>
          </a:p>
          <a:p>
            <a:pPr>
              <a:lnSpc>
                <a:spcPct val="108000"/>
              </a:lnSpc>
              <a:spcAft>
                <a:spcPts val="0"/>
              </a:spcAft>
              <a:defRPr sz="4800" b="1">
                <a:solidFill>
                  <a:srgbClr val="FFFFFF"/>
                </a:solidFill>
                <a:latin typeface="Arial"/>
              </a:defRPr>
            </a:pPr>
            <a:r>
              <a:t>trabajar mejor.</a:t>
            </a:r>
          </a:p>
        </p:txBody>
      </p:sp>
      <p:sp>
        <p:nvSpPr>
          <p:cNvPr id="6" name="Rounded Rectangle 5"/>
          <p:cNvSpPr/>
          <p:nvPr/>
        </p:nvSpPr>
        <p:spPr>
          <a:xfrm>
            <a:off x="777240" y="2926080"/>
            <a:ext cx="2377440" cy="1759305"/>
          </a:xfrm>
          <a:prstGeom prst="roundRect">
            <a:avLst>
              <a:gd name="adj" fmla="val 13000"/>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57630" y="3258921"/>
            <a:ext cx="1616659" cy="380390"/>
          </a:xfrm>
          <a:prstGeom prst="rect">
            <a:avLst/>
          </a:pr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57630" y="3258921"/>
            <a:ext cx="133136" cy="380390"/>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26281" y="3258921"/>
            <a:ext cx="133136" cy="380390"/>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94931" y="3258921"/>
            <a:ext cx="133136" cy="380390"/>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963582" y="3258921"/>
            <a:ext cx="133136" cy="380390"/>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32233" y="3258921"/>
            <a:ext cx="133136" cy="380390"/>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00884" y="3258921"/>
            <a:ext cx="133136" cy="380390"/>
          </a:xfrm>
          <a:prstGeom prst="rect">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86307" y="3781958"/>
            <a:ext cx="998524" cy="68945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98801" y="3758184"/>
            <a:ext cx="523036" cy="927201"/>
          </a:xfrm>
          <a:prstGeom prst="rect">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1252180" y="3898210"/>
            <a:ext cx="570336" cy="547486"/>
          </a:xfrm>
          <a:custGeom>
            <a:avLst/>
            <a:gdLst/>
            <a:ahLst/>
            <a:cxnLst/>
            <a:rect l="l" t="t" r="r" b="b"/>
            <a:pathLst>
              <a:path w="624" h="599">
                <a:moveTo>
                  <a:pt x="56" y="100"/>
                </a:moveTo>
                <a:lnTo>
                  <a:pt x="212" y="0"/>
                </a:lnTo>
                <a:lnTo>
                  <a:pt x="268" y="50"/>
                </a:lnTo>
                <a:lnTo>
                  <a:pt x="356" y="50"/>
                </a:lnTo>
                <a:lnTo>
                  <a:pt x="412" y="0"/>
                </a:lnTo>
                <a:lnTo>
                  <a:pt x="568" y="100"/>
                </a:lnTo>
                <a:lnTo>
                  <a:pt x="624" y="231"/>
                </a:lnTo>
                <a:lnTo>
                  <a:pt x="493" y="287"/>
                </a:lnTo>
                <a:lnTo>
                  <a:pt x="456" y="206"/>
                </a:lnTo>
                <a:lnTo>
                  <a:pt x="456" y="599"/>
                </a:lnTo>
                <a:lnTo>
                  <a:pt x="168" y="599"/>
                </a:lnTo>
                <a:lnTo>
                  <a:pt x="168" y="206"/>
                </a:lnTo>
                <a:lnTo>
                  <a:pt x="131" y="287"/>
                </a:lnTo>
                <a:lnTo>
                  <a:pt x="0" y="231"/>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498079" y="3951232"/>
            <a:ext cx="79882"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520440" y="3794760"/>
            <a:ext cx="502920" cy="0"/>
          </a:xfrm>
          <a:prstGeom prst="line">
            <a:avLst/>
          </a:prstGeom>
          <a:ln w="38100">
            <a:solidFill>
              <a:srgbClr val="D65A3A"/>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3838800" y="3674280"/>
            <a:ext cx="274200" cy="237640"/>
          </a:xfrm>
          <a:custGeom>
            <a:avLst/>
            <a:gdLst/>
            <a:ahLst/>
            <a:cxnLst/>
            <a:rect l="l" t="t" r="r" b="b"/>
            <a:pathLst>
              <a:path w="300" h="260">
                <a:moveTo>
                  <a:pt x="0" y="0"/>
                </a:moveTo>
                <a:lnTo>
                  <a:pt x="300" y="130"/>
                </a:lnTo>
                <a:lnTo>
                  <a:pt x="0" y="260"/>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572000" y="2834640"/>
            <a:ext cx="2926080" cy="2423160"/>
          </a:xfrm>
          <a:prstGeom prst="roundRect">
            <a:avLst>
              <a:gd name="adj" fmla="val 1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0" y="2834640"/>
            <a:ext cx="2926080" cy="266547"/>
          </a:xfrm>
          <a:prstGeom prst="rect">
            <a:avLst/>
          </a:prstGeom>
          <a:solidFill>
            <a:srgbClr val="192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659782" y="2919450"/>
            <a:ext cx="40965" cy="40965"/>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741712" y="2919450"/>
            <a:ext cx="40965" cy="40965"/>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3642" y="2919450"/>
            <a:ext cx="40965" cy="40965"/>
          </a:xfrm>
          <a:prstGeom prst="ellipse">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703673" y="3270808"/>
            <a:ext cx="1082649" cy="1744675"/>
          </a:xfrm>
          <a:prstGeom prst="roundRect">
            <a:avLst>
              <a:gd name="adj" fmla="val 13000"/>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4789360" y="3546320"/>
            <a:ext cx="877440" cy="842708"/>
          </a:xfrm>
          <a:custGeom>
            <a:avLst/>
            <a:gdLst/>
            <a:ahLst/>
            <a:cxnLst/>
            <a:rect l="l" t="t" r="r" b="b"/>
            <a:pathLst>
              <a:path w="960" h="922">
                <a:moveTo>
                  <a:pt x="86" y="154"/>
                </a:moveTo>
                <a:lnTo>
                  <a:pt x="326" y="0"/>
                </a:lnTo>
                <a:lnTo>
                  <a:pt x="413" y="77"/>
                </a:lnTo>
                <a:lnTo>
                  <a:pt x="547" y="77"/>
                </a:lnTo>
                <a:lnTo>
                  <a:pt x="634" y="0"/>
                </a:lnTo>
                <a:lnTo>
                  <a:pt x="874" y="154"/>
                </a:lnTo>
                <a:lnTo>
                  <a:pt x="960" y="356"/>
                </a:lnTo>
                <a:lnTo>
                  <a:pt x="758" y="442"/>
                </a:lnTo>
                <a:lnTo>
                  <a:pt x="701" y="317"/>
                </a:lnTo>
                <a:lnTo>
                  <a:pt x="701" y="922"/>
                </a:lnTo>
                <a:lnTo>
                  <a:pt x="259" y="922"/>
                </a:lnTo>
                <a:lnTo>
                  <a:pt x="259" y="317"/>
                </a:lnTo>
                <a:lnTo>
                  <a:pt x="202" y="442"/>
                </a:lnTo>
                <a:lnTo>
                  <a:pt x="0" y="356"/>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5168920" y="3627241"/>
            <a:ext cx="122895"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976518" y="3295040"/>
            <a:ext cx="380390" cy="678484"/>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6003152" y="3378144"/>
            <a:ext cx="307104" cy="295222"/>
          </a:xfrm>
          <a:custGeom>
            <a:avLst/>
            <a:gdLst/>
            <a:ahLst/>
            <a:cxnLst/>
            <a:rect l="l" t="t" r="r" b="b"/>
            <a:pathLst>
              <a:path w="336" h="323">
                <a:moveTo>
                  <a:pt x="30" y="54"/>
                </a:moveTo>
                <a:lnTo>
                  <a:pt x="114" y="0"/>
                </a:lnTo>
                <a:lnTo>
                  <a:pt x="144" y="27"/>
                </a:lnTo>
                <a:lnTo>
                  <a:pt x="192" y="27"/>
                </a:lnTo>
                <a:lnTo>
                  <a:pt x="222" y="0"/>
                </a:lnTo>
                <a:lnTo>
                  <a:pt x="306" y="54"/>
                </a:lnTo>
                <a:lnTo>
                  <a:pt x="336" y="125"/>
                </a:lnTo>
                <a:lnTo>
                  <a:pt x="265" y="155"/>
                </a:lnTo>
                <a:lnTo>
                  <a:pt x="245" y="111"/>
                </a:lnTo>
                <a:lnTo>
                  <a:pt x="245" y="323"/>
                </a:lnTo>
                <a:lnTo>
                  <a:pt x="91" y="323"/>
                </a:lnTo>
                <a:lnTo>
                  <a:pt x="91" y="111"/>
                </a:lnTo>
                <a:lnTo>
                  <a:pt x="71" y="155"/>
                </a:lnTo>
                <a:lnTo>
                  <a:pt x="0" y="125"/>
                </a:lnTo>
                <a:close/>
              </a:path>
            </a:pathLst>
          </a:custGeom>
          <a:solidFill>
            <a:srgbClr val="3467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6137891" y="3407676"/>
            <a:ext cx="43014"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444691" y="3295040"/>
            <a:ext cx="380390" cy="678484"/>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471120" y="3378144"/>
            <a:ext cx="307104" cy="295222"/>
          </a:xfrm>
          <a:custGeom>
            <a:avLst/>
            <a:gdLst/>
            <a:ahLst/>
            <a:cxnLst/>
            <a:rect l="l" t="t" r="r" b="b"/>
            <a:pathLst>
              <a:path w="336" h="323">
                <a:moveTo>
                  <a:pt x="30" y="54"/>
                </a:moveTo>
                <a:lnTo>
                  <a:pt x="114" y="0"/>
                </a:lnTo>
                <a:lnTo>
                  <a:pt x="144" y="27"/>
                </a:lnTo>
                <a:lnTo>
                  <a:pt x="192" y="27"/>
                </a:lnTo>
                <a:lnTo>
                  <a:pt x="222" y="0"/>
                </a:lnTo>
                <a:lnTo>
                  <a:pt x="306" y="54"/>
                </a:lnTo>
                <a:lnTo>
                  <a:pt x="336" y="125"/>
                </a:lnTo>
                <a:lnTo>
                  <a:pt x="265" y="155"/>
                </a:lnTo>
                <a:lnTo>
                  <a:pt x="245" y="111"/>
                </a:lnTo>
                <a:lnTo>
                  <a:pt x="245" y="323"/>
                </a:lnTo>
                <a:lnTo>
                  <a:pt x="91" y="323"/>
                </a:lnTo>
                <a:lnTo>
                  <a:pt x="91" y="111"/>
                </a:lnTo>
                <a:lnTo>
                  <a:pt x="71" y="155"/>
                </a:lnTo>
                <a:lnTo>
                  <a:pt x="0" y="125"/>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6606064" y="3407676"/>
            <a:ext cx="43013"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912864" y="3295040"/>
            <a:ext cx="380390" cy="678484"/>
          </a:xfrm>
          <a:prstGeom prst="roundRect">
            <a:avLst>
              <a:gd name="adj" fmla="val 13000"/>
            </a:avLst>
          </a:prstGeom>
          <a:solidFill>
            <a:srgbClr val="EAE6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6939088" y="3378144"/>
            <a:ext cx="307104" cy="295222"/>
          </a:xfrm>
          <a:custGeom>
            <a:avLst/>
            <a:gdLst/>
            <a:ahLst/>
            <a:cxnLst/>
            <a:rect l="l" t="t" r="r" b="b"/>
            <a:pathLst>
              <a:path w="336" h="323">
                <a:moveTo>
                  <a:pt x="30" y="54"/>
                </a:moveTo>
                <a:lnTo>
                  <a:pt x="114" y="0"/>
                </a:lnTo>
                <a:lnTo>
                  <a:pt x="144" y="27"/>
                </a:lnTo>
                <a:lnTo>
                  <a:pt x="192" y="27"/>
                </a:lnTo>
                <a:lnTo>
                  <a:pt x="222" y="0"/>
                </a:lnTo>
                <a:lnTo>
                  <a:pt x="306" y="54"/>
                </a:lnTo>
                <a:lnTo>
                  <a:pt x="336" y="125"/>
                </a:lnTo>
                <a:lnTo>
                  <a:pt x="265" y="155"/>
                </a:lnTo>
                <a:lnTo>
                  <a:pt x="245" y="111"/>
                </a:lnTo>
                <a:lnTo>
                  <a:pt x="245" y="323"/>
                </a:lnTo>
                <a:lnTo>
                  <a:pt x="91" y="323"/>
                </a:lnTo>
                <a:lnTo>
                  <a:pt x="91" y="111"/>
                </a:lnTo>
                <a:lnTo>
                  <a:pt x="71" y="155"/>
                </a:lnTo>
                <a:lnTo>
                  <a:pt x="0" y="125"/>
                </a:lnTo>
                <a:close/>
              </a:path>
            </a:pathLst>
          </a:custGeom>
          <a:solidFill>
            <a:srgbClr val="6471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7074237" y="3407676"/>
            <a:ext cx="43013" cy="0"/>
          </a:xfrm>
          <a:prstGeom prst="line">
            <a:avLst/>
          </a:prstGeom>
          <a:ln w="25400">
            <a:solidFill>
              <a:srgbClr val="F5F1E9"/>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5976518" y="4143146"/>
            <a:ext cx="1170432" cy="65425"/>
          </a:xfrm>
          <a:prstGeom prst="rect">
            <a:avLst/>
          </a:prstGeom>
          <a:solidFill>
            <a:srgbClr val="D6D9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976518" y="4312767"/>
            <a:ext cx="819302" cy="65425"/>
          </a:xfrm>
          <a:prstGeom prst="rect">
            <a:avLst/>
          </a:prstGeom>
          <a:solidFill>
            <a:srgbClr val="D6D9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76518" y="4555083"/>
            <a:ext cx="190195" cy="193852"/>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76518" y="4591431"/>
            <a:ext cx="190195" cy="169621"/>
          </a:xfrm>
          <a:prstGeom prst="rect">
            <a:avLst/>
          </a:prstGeom>
          <a:noFill/>
        </p:spPr>
        <p:txBody>
          <a:bodyPr wrap="none" lIns="0" rIns="0" tIns="0" bIns="0">
            <a:spAutoFit/>
          </a:bodyPr>
          <a:lstStyle/>
          <a:p>
            <a:pPr algn="ctr">
              <a:lnSpc>
                <a:spcPct val="108000"/>
              </a:lnSpc>
              <a:spcAft>
                <a:spcPts val="0"/>
              </a:spcAft>
              <a:defRPr sz="700" b="1">
                <a:solidFill>
                  <a:srgbClr val="192E30"/>
                </a:solidFill>
                <a:latin typeface="Arial"/>
              </a:defRPr>
            </a:pPr>
            <a:r>
              <a:t>S</a:t>
            </a:r>
          </a:p>
        </p:txBody>
      </p:sp>
      <p:sp>
        <p:nvSpPr>
          <p:cNvPr id="41" name="Rectangle 40"/>
          <p:cNvSpPr/>
          <p:nvPr/>
        </p:nvSpPr>
        <p:spPr>
          <a:xfrm>
            <a:off x="6225235" y="4555083"/>
            <a:ext cx="190195" cy="193852"/>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25235" y="4591431"/>
            <a:ext cx="190195" cy="169621"/>
          </a:xfrm>
          <a:prstGeom prst="rect">
            <a:avLst/>
          </a:prstGeom>
          <a:noFill/>
        </p:spPr>
        <p:txBody>
          <a:bodyPr wrap="none" lIns="0" rIns="0" tIns="0" bIns="0">
            <a:spAutoFit/>
          </a:bodyPr>
          <a:lstStyle/>
          <a:p>
            <a:pPr algn="ctr">
              <a:lnSpc>
                <a:spcPct val="108000"/>
              </a:lnSpc>
              <a:spcAft>
                <a:spcPts val="0"/>
              </a:spcAft>
              <a:defRPr sz="700" b="1">
                <a:solidFill>
                  <a:srgbClr val="192E30"/>
                </a:solidFill>
                <a:latin typeface="Arial"/>
              </a:defRPr>
            </a:pPr>
            <a:r>
              <a:t>M</a:t>
            </a:r>
          </a:p>
        </p:txBody>
      </p:sp>
      <p:sp>
        <p:nvSpPr>
          <p:cNvPr id="43" name="Rectangle 42"/>
          <p:cNvSpPr/>
          <p:nvPr/>
        </p:nvSpPr>
        <p:spPr>
          <a:xfrm>
            <a:off x="6473952" y="4555083"/>
            <a:ext cx="190195" cy="193852"/>
          </a:xfrm>
          <a:prstGeom prst="rect">
            <a:avLst/>
          </a:prstGeom>
          <a:solidFill>
            <a:srgbClr val="DFE8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73952" y="4591431"/>
            <a:ext cx="190195" cy="169621"/>
          </a:xfrm>
          <a:prstGeom prst="rect">
            <a:avLst/>
          </a:prstGeom>
          <a:noFill/>
        </p:spPr>
        <p:txBody>
          <a:bodyPr wrap="none" lIns="0" rIns="0" tIns="0" bIns="0">
            <a:spAutoFit/>
          </a:bodyPr>
          <a:lstStyle/>
          <a:p>
            <a:pPr algn="ctr">
              <a:lnSpc>
                <a:spcPct val="108000"/>
              </a:lnSpc>
              <a:spcAft>
                <a:spcPts val="0"/>
              </a:spcAft>
              <a:defRPr sz="700" b="1">
                <a:solidFill>
                  <a:srgbClr val="192E30"/>
                </a:solidFill>
                <a:latin typeface="Arial"/>
              </a:defRPr>
            </a:pPr>
            <a:r>
              <a:t>L</a:t>
            </a:r>
          </a:p>
        </p:txBody>
      </p:sp>
      <p:sp>
        <p:nvSpPr>
          <p:cNvPr id="45" name="Rounded Rectangle 44"/>
          <p:cNvSpPr/>
          <p:nvPr/>
        </p:nvSpPr>
        <p:spPr>
          <a:xfrm>
            <a:off x="5976518" y="4870094"/>
            <a:ext cx="1170432" cy="193852"/>
          </a:xfrm>
          <a:prstGeom prst="roundRect">
            <a:avLst>
              <a:gd name="adj" fmla="val 13000"/>
            </a:avLst>
          </a:pr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7909560" y="3794760"/>
            <a:ext cx="502920" cy="0"/>
          </a:xfrm>
          <a:prstGeom prst="line">
            <a:avLst/>
          </a:prstGeom>
          <a:ln w="38100">
            <a:solidFill>
              <a:srgbClr val="D65A3A"/>
            </a:solidFill>
          </a:ln>
        </p:spPr>
        <p:style>
          <a:lnRef idx="2">
            <a:schemeClr val="accent1"/>
          </a:lnRef>
          <a:fillRef idx="0">
            <a:schemeClr val="accent1"/>
          </a:fillRef>
          <a:effectRef idx="1">
            <a:schemeClr val="accent1"/>
          </a:effectRef>
          <a:fontRef idx="minor">
            <a:schemeClr val="tx1"/>
          </a:fontRef>
        </p:style>
      </p:cxnSp>
      <p:sp>
        <p:nvSpPr>
          <p:cNvPr id="47" name="Freeform 46"/>
          <p:cNvSpPr/>
          <p:nvPr/>
        </p:nvSpPr>
        <p:spPr>
          <a:xfrm>
            <a:off x="8226000" y="3674280"/>
            <a:ext cx="274200" cy="237640"/>
          </a:xfrm>
          <a:custGeom>
            <a:avLst/>
            <a:gdLst/>
            <a:ahLst/>
            <a:cxnLst/>
            <a:rect l="l" t="t" r="r" b="b"/>
            <a:pathLst>
              <a:path w="300" h="260">
                <a:moveTo>
                  <a:pt x="0" y="0"/>
                </a:moveTo>
                <a:lnTo>
                  <a:pt x="300" y="130"/>
                </a:lnTo>
                <a:lnTo>
                  <a:pt x="0" y="260"/>
                </a:lnTo>
                <a:close/>
              </a:path>
            </a:pathLst>
          </a:custGeom>
          <a:solidFill>
            <a:srgbClr val="D65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9326880" y="3913632"/>
            <a:ext cx="409651" cy="422452"/>
          </a:xfrm>
          <a:prstGeom prst="line">
            <a:avLst/>
          </a:prstGeom>
          <a:ln w="63500">
            <a:solidFill>
              <a:srgbClr val="DFE8D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9736531" y="3337560"/>
            <a:ext cx="870509" cy="998524"/>
          </a:xfrm>
          <a:prstGeom prst="line">
            <a:avLst/>
          </a:prstGeom>
          <a:ln w="63500">
            <a:solidFill>
              <a:srgbClr val="DFE8DD"/>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40080" y="5715000"/>
            <a:ext cx="10972800" cy="274320"/>
          </a:xfrm>
          <a:prstGeom prst="rect">
            <a:avLst/>
          </a:prstGeom>
          <a:noFill/>
        </p:spPr>
        <p:txBody>
          <a:bodyPr wrap="none" lIns="0" rIns="0" tIns="0" bIns="0">
            <a:spAutoFit/>
          </a:bodyPr>
          <a:lstStyle/>
          <a:p>
            <a:pPr>
              <a:lnSpc>
                <a:spcPct val="108000"/>
              </a:lnSpc>
              <a:spcAft>
                <a:spcPts val="0"/>
              </a:spcAft>
              <a:defRPr sz="1100" b="0">
                <a:solidFill>
                  <a:srgbClr val="DFE8DD"/>
                </a:solidFill>
                <a:latin typeface="Arial"/>
              </a:defRPr>
            </a:pPr>
            <a:r>
              <a:t>FUENTES · Odoo: funciones del punto de venta · Canva: redes sociales</a:t>
            </a:r>
          </a:p>
        </p:txBody>
      </p:sp>
      <p:sp>
        <p:nvSpPr>
          <p:cNvPr id="51" name="TextBox 50"/>
          <p:cNvSpPr txBox="1"/>
          <p:nvPr/>
        </p:nvSpPr>
        <p:spPr>
          <a:xfrm>
            <a:off x="640080" y="6053328"/>
            <a:ext cx="10972800" cy="228600"/>
          </a:xfrm>
          <a:prstGeom prst="rect">
            <a:avLst/>
          </a:prstGeom>
          <a:noFill/>
        </p:spPr>
        <p:txBody>
          <a:bodyPr wrap="none" lIns="0" rIns="0" tIns="0" bIns="0">
            <a:spAutoFit/>
          </a:bodyPr>
          <a:lstStyle/>
          <a:p>
            <a:pPr>
              <a:lnSpc>
                <a:spcPct val="108000"/>
              </a:lnSpc>
              <a:spcAft>
                <a:spcPts val="0"/>
              </a:spcAft>
              <a:defRPr sz="900" b="0">
                <a:solidFill>
                  <a:srgbClr val="DFE8DD"/>
                </a:solidFill>
                <a:latin typeface="Arial"/>
              </a:defRPr>
            </a:pPr>
            <a:r>
              <a:t>odoo.com/es_ES/app/point-of-sale-features  ·  canva.com/es_es/redes-sociales/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